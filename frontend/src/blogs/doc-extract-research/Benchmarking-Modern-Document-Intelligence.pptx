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Alexandria Medium" panose="020B0604020202020204" charset="-78"/>
      <p:regular r:id="rId14"/>
    </p:embeddedFont>
    <p:embeddedFont>
      <p:font typeface="Manrope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56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322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654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Benchmarking Modern Document Intelligence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14405"/>
            <a:ext cx="13042821" cy="16907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41431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Comparative Study of OCR, Layout-Aware Parsers, and Vision-Language Models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611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DocExtract Parallel Extraction Framework — Performance Analysis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5379244"/>
            <a:ext cx="13042821" cy="963811"/>
          </a:xfrm>
          <a:prstGeom prst="roundRect">
            <a:avLst>
              <a:gd name="adj" fmla="val 35302"/>
            </a:avLst>
          </a:prstGeom>
          <a:solidFill>
            <a:srgbClr val="B3E7F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730954"/>
            <a:ext cx="283488" cy="2268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0906" y="5662732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Sairaj Dhamal   |   April 2026</a:t>
            </a:r>
            <a:endParaRPr lang="en-US" sz="1750" dirty="0"/>
          </a:p>
        </p:txBody>
      </p:sp>
      <p:sp>
        <p:nvSpPr>
          <p:cNvPr id="9" name="Rectangle 8"/>
          <p:cNvSpPr/>
          <p:nvPr/>
        </p:nvSpPr>
        <p:spPr>
          <a:xfrm>
            <a:off x="12739607" y="7795648"/>
            <a:ext cx="1782305" cy="433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760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33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14499"/>
            <a:ext cx="8284131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Document extraction is solved for clean, digital PDFs — fails on complex real-world documents with tables, charts, diagrams, etc.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Less comprehensive benchmark compares modern engines across scanned text, tables, charts, and handwriting.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Developers don't know exactly which module to use for a particular type of document.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Ground reality is different from what is given on the internet.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9475589" y="2806541"/>
            <a:ext cx="4531876" cy="3665458"/>
          </a:xfrm>
          <a:prstGeom prst="roundRect">
            <a:avLst>
              <a:gd name="adj" fmla="val 14852"/>
            </a:avLst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9702403" y="3033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8A02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Research Question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02403" y="3614499"/>
            <a:ext cx="407824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extraction architecture yields the highest composite fidelity across diverse document types in a parallel multi-engine framework?</a:t>
            </a:r>
            <a:endParaRPr lang="en-US" sz="1750" dirty="0"/>
          </a:p>
        </p:txBody>
      </p:sp>
      <p:sp>
        <p:nvSpPr>
          <p:cNvPr id="8" name="Rectangle 7"/>
          <p:cNvSpPr/>
          <p:nvPr/>
        </p:nvSpPr>
        <p:spPr>
          <a:xfrm>
            <a:off x="12739607" y="7795648"/>
            <a:ext cx="1782305" cy="433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Literature Survey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88883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488883"/>
            <a:ext cx="121920" cy="2093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Traditional OCR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323659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Deep learning OCR (PaddleOCR) uses CNN detection + CRNN recognition. High accuracy on printed text; no semantic understanding of structure.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2488883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2488883"/>
            <a:ext cx="121920" cy="20937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2746177"/>
            <a:ext cx="30961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Layout-Aware Parsing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7282" y="3236595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PyMuPDF4LLM operates on PDF metadata — bounding boxes, font data — to preserve reading order. Fast for digital PDFs; degrades on scanned pages.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809411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809411"/>
            <a:ext cx="121920" cy="20937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5066705"/>
            <a:ext cx="32917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Cloud Heuristic Parsers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142524" y="555712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LlamaParse &amp; Azure DI use proprietary neural models trained on large corpora. Produce structured Markdown; support scanned and handwritten content.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809411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4809411"/>
            <a:ext cx="121920" cy="20937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5066705"/>
            <a:ext cx="34699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Vision-Language Models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777282" y="555712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Gemini &amp; Qwen2.5-VL apply large transformer architectures to document images — enabling zero-shot understanding of tables, charts, and handwriting.</a:t>
            </a:r>
            <a:endParaRPr lang="en-US" sz="1750" dirty="0"/>
          </a:p>
        </p:txBody>
      </p:sp>
      <p:sp>
        <p:nvSpPr>
          <p:cNvPr id="19" name="Rectangle 18"/>
          <p:cNvSpPr/>
          <p:nvPr/>
        </p:nvSpPr>
        <p:spPr>
          <a:xfrm>
            <a:off x="12739607" y="7795648"/>
            <a:ext cx="1782305" cy="433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8320"/>
            <a:ext cx="972895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Introduction — DocExtract Framework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853684"/>
            <a:ext cx="1304282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DocExtract system was built to answer the research question empirically — by running all six engines in parallel on the same document and surfacing structured, comparable results.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3790" y="2680930"/>
            <a:ext cx="13042821" cy="2183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PaddleOCR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LlamaParse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Gemini Vision Model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PyMuPDF4LLM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Azure DI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Qwen2.5 -VL+MinerU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3790" y="5070753"/>
            <a:ext cx="13042821" cy="2310527"/>
          </a:xfrm>
          <a:prstGeom prst="roundRect">
            <a:avLst>
              <a:gd name="adj" fmla="val 13253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3" y="5375791"/>
            <a:ext cx="255151" cy="2040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7087" y="5305425"/>
            <a:ext cx="1217545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Objectives: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57087" y="5780961"/>
            <a:ext cx="12175450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Quantify fidelity across 5 document types for 6 engines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when local models rival cloud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Provide developer decision guidance based on our results from evaluation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which type of document fails on certain engine</a:t>
            </a:r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12739607" y="7795648"/>
            <a:ext cx="1782305" cy="433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9143"/>
            <a:ext cx="965763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Methodology — 6 Engines Under Review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791652"/>
            <a:ext cx="6286262" cy="1466850"/>
          </a:xfrm>
          <a:prstGeom prst="roundRect">
            <a:avLst>
              <a:gd name="adj" fmla="val 19716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9412" y="200727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FastAPI Backend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009412" y="2472333"/>
            <a:ext cx="5855018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asyncio.gather() runs all 6 extractors in parallel with independent timeouts. A failure in one engine never degrades others.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3790" y="3422333"/>
            <a:ext cx="6286262" cy="1466850"/>
          </a:xfrm>
          <a:prstGeom prst="roundRect">
            <a:avLst>
              <a:gd name="adj" fmla="val 19716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412" y="363795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React Frontend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09412" y="4103013"/>
            <a:ext cx="5855018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Six-panel comparison UI shows extracted text, processing time, page count, and success/failure per engine side by side.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3790" y="5053013"/>
            <a:ext cx="6286262" cy="2209205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9412" y="526863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WorkFlow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009412" y="5733693"/>
            <a:ext cx="5855018" cy="131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 document uploaded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 to all 6 extraction engines in parallel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Outputs collected from each engine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Results normalized into a </a:t>
            </a:r>
            <a:r>
              <a:rPr lang="en-US" sz="15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common comparable format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57968" y="1771174"/>
            <a:ext cx="245185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 Engines Evaluated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557968" y="2256711"/>
            <a:ext cx="3061216" cy="1466850"/>
          </a:xfrm>
          <a:prstGeom prst="roundRect">
            <a:avLst>
              <a:gd name="adj" fmla="val 19716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3591" y="247233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PaddleOCR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773591" y="2937391"/>
            <a:ext cx="262997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Local OCR – Python Library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783014" y="2256711"/>
            <a:ext cx="3061216" cy="1466850"/>
          </a:xfrm>
          <a:prstGeom prst="roundRect">
            <a:avLst>
              <a:gd name="adj" fmla="val 19716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98637" y="247233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LlamaParse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0998637" y="2937391"/>
            <a:ext cx="262997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Cloud RAG AI-native Document service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57968" y="3887391"/>
            <a:ext cx="3061216" cy="1466850"/>
          </a:xfrm>
          <a:prstGeom prst="roundRect">
            <a:avLst>
              <a:gd name="adj" fmla="val 19716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3591" y="410301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Gemini Vision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7773591" y="4568071"/>
            <a:ext cx="262997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VLM (Gemini – 1.5 – flash model free tier)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783014" y="3887391"/>
            <a:ext cx="3061216" cy="1466850"/>
          </a:xfrm>
          <a:prstGeom prst="roundRect">
            <a:avLst>
              <a:gd name="adj" fmla="val 19716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98637" y="410301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PyMuPDF4LLM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10998637" y="4568071"/>
            <a:ext cx="262997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Hybrid Local automatic OCR extension of pyMuPDF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57968" y="5518071"/>
            <a:ext cx="3061216" cy="1768078"/>
          </a:xfrm>
          <a:prstGeom prst="roundRect">
            <a:avLst>
              <a:gd name="adj" fmla="val 16357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3591" y="573369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MinerU + Qwen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7773591" y="6198751"/>
            <a:ext cx="262997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Offline AI local LLM and Python Library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783014" y="5518071"/>
            <a:ext cx="3061216" cy="1768078"/>
          </a:xfrm>
          <a:prstGeom prst="roundRect">
            <a:avLst>
              <a:gd name="adj" fmla="val 16357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98637" y="5733693"/>
            <a:ext cx="2629972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Azure Doc. Intelligence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10998637" y="6499979"/>
            <a:ext cx="262997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Azure Service for documents Extraction</a:t>
            </a:r>
            <a:endParaRPr lang="en-US" sz="1500" dirty="0"/>
          </a:p>
        </p:txBody>
      </p:sp>
      <p:sp>
        <p:nvSpPr>
          <p:cNvPr id="31" name="Rectangle 30"/>
          <p:cNvSpPr/>
          <p:nvPr/>
        </p:nvSpPr>
        <p:spPr>
          <a:xfrm>
            <a:off x="12739607" y="7795648"/>
            <a:ext cx="1782305" cy="433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83093"/>
            <a:ext cx="4196358" cy="4463296"/>
          </a:xfrm>
          <a:prstGeom prst="roundRect">
            <a:avLst>
              <a:gd name="adj" fmla="val 8108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224" y="2117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8224" y="2607945"/>
            <a:ext cx="3727490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Benchmarking only </a:t>
            </a:r>
            <a:r>
              <a:rPr lang="en-US" sz="17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document extraction engines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Evaluation across </a:t>
            </a:r>
            <a:r>
              <a:rPr lang="en-US" sz="17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document types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Focus on: Structure, Latency, Extraction quality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216962" y="1883093"/>
            <a:ext cx="4196358" cy="4463296"/>
          </a:xfrm>
          <a:prstGeom prst="roundRect">
            <a:avLst>
              <a:gd name="adj" fmla="val 8108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51396" y="2117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Assumptions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51396" y="2607945"/>
            <a:ext cx="3727490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Documents represent real-world variability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world documents have good quality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9640133" y="1883093"/>
            <a:ext cx="4196358" cy="4463296"/>
          </a:xfrm>
          <a:prstGeom prst="roundRect">
            <a:avLst>
              <a:gd name="adj" fmla="val 8108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4568" y="2117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Constraints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4568" y="2607945"/>
            <a:ext cx="3727490" cy="350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dataset size (5 document categories, fixed samples)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 limitations (rate limits, cost, latency)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Hardware constraints for local models (Qwen, MinerU)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Variability in document complexity affects consistency</a:t>
            </a:r>
            <a:endParaRPr lang="en-US" sz="1750" dirty="0"/>
          </a:p>
        </p:txBody>
      </p:sp>
      <p:sp>
        <p:nvSpPr>
          <p:cNvPr id="11" name="Rectangle 10"/>
          <p:cNvSpPr/>
          <p:nvPr/>
        </p:nvSpPr>
        <p:spPr>
          <a:xfrm>
            <a:off x="12739607" y="7795648"/>
            <a:ext cx="1782305" cy="433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9144"/>
            <a:ext cx="8237101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Evaluation — Dataset &amp; Scoring Methodology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469350"/>
            <a:ext cx="311217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Dataset — 5 Document Categories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93790" y="1807488"/>
            <a:ext cx="2947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42636"/>
            <a:ext cx="6341626" cy="15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214681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Digital-born PDFs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3790" y="2472928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Selectable text layer — baseline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3790" y="2873693"/>
            <a:ext cx="2947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94077"/>
            <a:ext cx="6341626" cy="15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3790" y="3213021"/>
            <a:ext cx="195131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Scanned Image PDFs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93790" y="3539133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embedded text — OCR required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93790" y="3939897"/>
            <a:ext cx="2947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145637"/>
            <a:ext cx="6341626" cy="15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790" y="427922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Structured Tables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93790" y="4605337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Multi-column bordered tables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793790" y="5006102"/>
            <a:ext cx="2947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97078"/>
            <a:ext cx="6341626" cy="15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3790" y="534543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Chart Documents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93790" y="5671542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Bar, line, pie charts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793790" y="6072307"/>
            <a:ext cx="2947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1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248638"/>
            <a:ext cx="6341626" cy="152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3790" y="641163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Handwritten Notes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93790" y="6737747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Cursive &amp; printed handwriting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7502604" y="1469350"/>
            <a:ext cx="247697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Weighted Scoring Formula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7502604" y="1880949"/>
            <a:ext cx="6341626" cy="486966"/>
          </a:xfrm>
          <a:prstGeom prst="roundRect">
            <a:avLst>
              <a:gd name="adj" fmla="val 45415"/>
            </a:avLst>
          </a:prstGeom>
          <a:solidFill>
            <a:srgbClr val="B3E7FE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004" y="2088475"/>
            <a:ext cx="184190" cy="14739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981593" y="1940004"/>
            <a:ext cx="571523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Score = 0.20 × S(1-page) + 0.30 × S(5-page) + 0.50 × S(10-page)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7502604" y="2402205"/>
            <a:ext cx="6341626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Rationale: Longer documents expose compounding errors — higher weight assigned to 10-page tier. The percentage that we give to S(1-page), S(5-page), S(10-page) are based on observation which depends on 4 Dimensions.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7502604" y="3081576"/>
            <a:ext cx="362104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 Scoring Dimensions (0–10 scale each):</a:t>
            </a:r>
            <a:endParaRPr lang="en-US" sz="1450" dirty="0"/>
          </a:p>
        </p:txBody>
      </p:sp>
      <p:sp>
        <p:nvSpPr>
          <p:cNvPr id="30" name="Shape 22"/>
          <p:cNvSpPr/>
          <p:nvPr/>
        </p:nvSpPr>
        <p:spPr>
          <a:xfrm>
            <a:off x="7502604" y="3493175"/>
            <a:ext cx="3122890" cy="845939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15240">
            <a:solidFill>
              <a:srgbClr val="B3D5E4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364" y="3493175"/>
            <a:ext cx="60960" cy="845939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710964" y="358235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Text Completeness</a:t>
            </a:r>
            <a:endParaRPr lang="en-US" sz="1450" dirty="0"/>
          </a:p>
        </p:txBody>
      </p:sp>
      <p:sp>
        <p:nvSpPr>
          <p:cNvPr id="33" name="Text 24"/>
          <p:cNvSpPr/>
          <p:nvPr/>
        </p:nvSpPr>
        <p:spPr>
          <a:xfrm>
            <a:off x="7710964" y="3908465"/>
            <a:ext cx="275189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Character-level accuracy &amp; coverage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10721221" y="3493175"/>
            <a:ext cx="3123009" cy="845939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15240">
            <a:solidFill>
              <a:srgbClr val="B3D5E4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5981" y="3493175"/>
            <a:ext cx="60960" cy="845939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0929580" y="358235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Structural Fidelity</a:t>
            </a:r>
            <a:endParaRPr lang="en-US" sz="1450" dirty="0"/>
          </a:p>
        </p:txBody>
      </p:sp>
      <p:sp>
        <p:nvSpPr>
          <p:cNvPr id="37" name="Text 27"/>
          <p:cNvSpPr/>
          <p:nvPr/>
        </p:nvSpPr>
        <p:spPr>
          <a:xfrm>
            <a:off x="10929580" y="3908465"/>
            <a:ext cx="275201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Markdown headers, lists, emphasis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7502604" y="4434840"/>
            <a:ext cx="3122890" cy="845939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15240">
            <a:solidFill>
              <a:srgbClr val="B3D5E4"/>
            </a:solidFill>
            <a:prstDash val="solid"/>
          </a:ln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364" y="4434840"/>
            <a:ext cx="60960" cy="845939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710964" y="452401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Table Quality</a:t>
            </a:r>
            <a:endParaRPr lang="en-US" sz="1450" dirty="0"/>
          </a:p>
        </p:txBody>
      </p:sp>
      <p:sp>
        <p:nvSpPr>
          <p:cNvPr id="41" name="Text 30"/>
          <p:cNvSpPr/>
          <p:nvPr/>
        </p:nvSpPr>
        <p:spPr>
          <a:xfrm>
            <a:off x="7710964" y="4850130"/>
            <a:ext cx="275189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Row &amp; column alignment accuracy</a:t>
            </a:r>
            <a:endParaRPr lang="en-US" sz="1150" dirty="0"/>
          </a:p>
        </p:txBody>
      </p:sp>
      <p:sp>
        <p:nvSpPr>
          <p:cNvPr id="42" name="Shape 31"/>
          <p:cNvSpPr/>
          <p:nvPr/>
        </p:nvSpPr>
        <p:spPr>
          <a:xfrm>
            <a:off x="10721221" y="4434840"/>
            <a:ext cx="3123009" cy="845939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15240">
            <a:solidFill>
              <a:srgbClr val="B3D5E4"/>
            </a:solidFill>
            <a:prstDash val="solid"/>
          </a:ln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5981" y="4434840"/>
            <a:ext cx="60960" cy="845939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10929580" y="4524018"/>
            <a:ext cx="192095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Semantic Coherence</a:t>
            </a:r>
            <a:endParaRPr lang="en-US" sz="1450" dirty="0"/>
          </a:p>
        </p:txBody>
      </p:sp>
      <p:sp>
        <p:nvSpPr>
          <p:cNvPr id="45" name="Text 33"/>
          <p:cNvSpPr/>
          <p:nvPr/>
        </p:nvSpPr>
        <p:spPr>
          <a:xfrm>
            <a:off x="10929580" y="4850130"/>
            <a:ext cx="275201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Meaning vs. source document</a:t>
            </a:r>
            <a:endParaRPr lang="en-US" sz="1150" dirty="0"/>
          </a:p>
        </p:txBody>
      </p:sp>
      <p:sp>
        <p:nvSpPr>
          <p:cNvPr id="46" name="Text 34"/>
          <p:cNvSpPr/>
          <p:nvPr/>
        </p:nvSpPr>
        <p:spPr>
          <a:xfrm>
            <a:off x="793790" y="7258288"/>
            <a:ext cx="13042821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📌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Dataset: Mix of synthetic LLM-generated PDFs, personal scanned books, AI-generated tables/charts, and personal handwritten materials</a:t>
            </a:r>
            <a:endParaRPr lang="en-US" sz="1150" dirty="0"/>
          </a:p>
        </p:txBody>
      </p:sp>
      <p:sp>
        <p:nvSpPr>
          <p:cNvPr id="47" name="Rectangle 46"/>
          <p:cNvSpPr/>
          <p:nvPr/>
        </p:nvSpPr>
        <p:spPr>
          <a:xfrm>
            <a:off x="12739607" y="7795648"/>
            <a:ext cx="1782305" cy="433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7279"/>
            <a:ext cx="6873359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Results — Benchmark Scores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2017395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Composite Weighted Scores (0–10) | Weights: 1-page=20% 5-page=30% 10-page=50%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90" y="2486978"/>
            <a:ext cx="13042821" cy="3890963"/>
          </a:xfrm>
          <a:prstGeom prst="roundRect">
            <a:avLst>
              <a:gd name="adj" fmla="val 743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4767" y="2600444"/>
            <a:ext cx="147220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Document Type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60119" y="2600444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PaddleOCR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21662" y="2600444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LlamaParse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204" y="2600444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Gemini Vision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44746" y="2600444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PyMuPDF4LLM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06288" y="2600444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MinerU+Qwen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167830" y="2600444"/>
            <a:ext cx="147220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Azure DI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4767" y="3105031"/>
            <a:ext cx="147220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PDF with 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60119" y="3105031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7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10.23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21662" y="3105031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7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10.33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204" y="3105031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7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10.33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44746" y="3105031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7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10.33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306288" y="3105031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7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10.33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167830" y="3105031"/>
            <a:ext cx="147220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7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10.23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4767" y="3609618"/>
            <a:ext cx="1472208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PDF with Image/Scan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60119" y="3609618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3.33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21662" y="3609618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4.90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204" y="3609618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45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8.17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44746" y="3609618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45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8.60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306288" y="3609618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0.00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167830" y="3609618"/>
            <a:ext cx="147220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7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8.80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94767" y="4399478"/>
            <a:ext cx="147220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PDF with Tables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860119" y="4399478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5.20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21662" y="4399478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7.80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83204" y="4399478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4.45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44746" y="4399478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6.20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306288" y="4399478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5.70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167830" y="4399478"/>
            <a:ext cx="147220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5.80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94767" y="4904065"/>
            <a:ext cx="1472208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PDF with Charts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860119" y="4904065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3.10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721662" y="4904065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7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8.02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583204" y="4904065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5.77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44746" y="4904065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0.00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306288" y="4904065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7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8.92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167830" y="4904065"/>
            <a:ext cx="147220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3.40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94767" y="5693926"/>
            <a:ext cx="1472208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Handwritten Notes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2860119" y="5693926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2.50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721662" y="5693926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3.13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583204" y="5693926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7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8.40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444746" y="5693926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5.13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306288" y="5693926"/>
            <a:ext cx="14683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7.35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2167830" y="5693926"/>
            <a:ext cx="147220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7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8.85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93790" y="6709648"/>
            <a:ext cx="29079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A7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■</a:t>
            </a: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≥ 9.0  Excellent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179689" y="6709648"/>
            <a:ext cx="29079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■</a:t>
            </a: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6–8.9  Good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565588" y="6709648"/>
            <a:ext cx="29079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■</a:t>
            </a: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1–5.9  Partial/Poor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951488" y="6709648"/>
            <a:ext cx="29079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039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■</a:t>
            </a:r>
            <a:r>
              <a:rPr lang="en-US" sz="1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0.00  Failed</a:t>
            </a:r>
            <a:endParaRPr lang="en-US" sz="1500" dirty="0"/>
          </a:p>
        </p:txBody>
      </p:sp>
      <p:sp>
        <p:nvSpPr>
          <p:cNvPr id="51" name="Rectangle 50"/>
          <p:cNvSpPr/>
          <p:nvPr/>
        </p:nvSpPr>
        <p:spPr>
          <a:xfrm>
            <a:off x="12739607" y="7795648"/>
            <a:ext cx="1782305" cy="433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3916"/>
            <a:ext cx="1085111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Results — Category Champions at a Glance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03459" y="1961317"/>
            <a:ext cx="3775115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10.33</a:t>
            </a:r>
            <a:endParaRPr lang="en-US" sz="5300" dirty="0"/>
          </a:p>
        </p:txBody>
      </p:sp>
      <p:sp>
        <p:nvSpPr>
          <p:cNvPr id="4" name="Text 2"/>
          <p:cNvSpPr/>
          <p:nvPr/>
        </p:nvSpPr>
        <p:spPr>
          <a:xfrm>
            <a:off x="1615202" y="287476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Digital Text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3790" y="3303746"/>
            <a:ext cx="419457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Engines</a:t>
            </a:r>
            <a:r>
              <a:rPr lang="en-US" sz="16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Solved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27583" y="1961317"/>
            <a:ext cx="3775115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8.80</a:t>
            </a:r>
            <a:endParaRPr lang="en-US" sz="5300" dirty="0"/>
          </a:p>
        </p:txBody>
      </p:sp>
      <p:sp>
        <p:nvSpPr>
          <p:cNvPr id="7" name="Text 5"/>
          <p:cNvSpPr/>
          <p:nvPr/>
        </p:nvSpPr>
        <p:spPr>
          <a:xfrm>
            <a:off x="6039326" y="287476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Scanned Docs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17914" y="3303746"/>
            <a:ext cx="419457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Azure DI</a:t>
            </a:r>
            <a:r>
              <a:rPr lang="en-US" sz="16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Best OCR infra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51708" y="1961317"/>
            <a:ext cx="3775115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7.80</a:t>
            </a:r>
            <a:endParaRPr lang="en-US" sz="5300" dirty="0"/>
          </a:p>
        </p:txBody>
      </p:sp>
      <p:sp>
        <p:nvSpPr>
          <p:cNvPr id="10" name="Text 8"/>
          <p:cNvSpPr/>
          <p:nvPr/>
        </p:nvSpPr>
        <p:spPr>
          <a:xfrm>
            <a:off x="10463451" y="287476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Tables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42038" y="3303746"/>
            <a:ext cx="419457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LlamaParse</a:t>
            </a:r>
            <a:r>
              <a:rPr lang="en-US" sz="16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RAG-optimized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15521" y="4393763"/>
            <a:ext cx="3775115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8.92</a:t>
            </a:r>
            <a:endParaRPr lang="en-US" sz="5300" dirty="0"/>
          </a:p>
        </p:txBody>
      </p:sp>
      <p:sp>
        <p:nvSpPr>
          <p:cNvPr id="13" name="Text 11"/>
          <p:cNvSpPr/>
          <p:nvPr/>
        </p:nvSpPr>
        <p:spPr>
          <a:xfrm>
            <a:off x="3827264" y="530721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Charts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05852" y="5736193"/>
            <a:ext cx="419457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MinerU + Qwen</a:t>
            </a:r>
            <a:r>
              <a:rPr lang="en-US" sz="16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Offline VLM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9645" y="4393763"/>
            <a:ext cx="3775115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8.85</a:t>
            </a:r>
            <a:endParaRPr lang="en-US" sz="5300" dirty="0"/>
          </a:p>
        </p:txBody>
      </p:sp>
      <p:sp>
        <p:nvSpPr>
          <p:cNvPr id="16" name="Text 14"/>
          <p:cNvSpPr/>
          <p:nvPr/>
        </p:nvSpPr>
        <p:spPr>
          <a:xfrm>
            <a:off x="8251388" y="530721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Handwriting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29976" y="5736193"/>
            <a:ext cx="419457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Azure DI</a:t>
            </a:r>
            <a:r>
              <a:rPr lang="en-US" sz="16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prebuilt-read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3790" y="6563439"/>
            <a:ext cx="13042821" cy="812244"/>
          </a:xfrm>
          <a:prstGeom prst="roundRect">
            <a:avLst>
              <a:gd name="adj" fmla="val 37700"/>
            </a:avLst>
          </a:prstGeom>
          <a:solidFill>
            <a:srgbClr val="B6D6FC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3" y="6868478"/>
            <a:ext cx="255151" cy="20407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57087" y="6798112"/>
            <a:ext cx="1217545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Insight:</a:t>
            </a: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No single engine dominates all categories — document type is the primary determinant of optimal engine selection.</a:t>
            </a:r>
            <a:endParaRPr lang="en-US" sz="1600" dirty="0"/>
          </a:p>
        </p:txBody>
      </p:sp>
      <p:sp>
        <p:nvSpPr>
          <p:cNvPr id="21" name="Rectangle 20"/>
          <p:cNvSpPr/>
          <p:nvPr/>
        </p:nvSpPr>
        <p:spPr>
          <a:xfrm>
            <a:off x="12739607" y="7795648"/>
            <a:ext cx="1782305" cy="433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6517"/>
            <a:ext cx="741807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Conclusion &amp; Recommendations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3627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Takeaways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064901"/>
            <a:ext cx="7648575" cy="229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Azure DI &amp; Gemini Vision lead on scanned + handwritten content — best for enterprise document intake.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LlamaParse is the clear winner for structured table extraction — ideal for RAG pipelines.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MinerU + Qwen2.5-VL uniquely handles charts offline — best local option for visual data.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Local models (PaddleOCR, PyMuPDF4LLM) are viable for privacy-sensitive or high-volume digital PDFs.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Parallel multi-engine execution is itself a valid production strategy for unknown document types.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92659" y="163627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Decision Guide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799" y="2060138"/>
            <a:ext cx="45720" cy="683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19830" y="2082998"/>
            <a:ext cx="47242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High-volume digital PDFs: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19830" y="243709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E5FA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PyMuPDF4LLM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799" y="2987993"/>
            <a:ext cx="45720" cy="683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19830" y="3010853"/>
            <a:ext cx="47242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Complex tables for RAG: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119830" y="336494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E7D32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LlamaParse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799" y="3915847"/>
            <a:ext cx="45720" cy="683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19830" y="3938707"/>
            <a:ext cx="47242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Charts &amp; visual data: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9119830" y="429279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A1B9A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MinerU+Qwen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799" y="4843701"/>
            <a:ext cx="45720" cy="683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19830" y="4866561"/>
            <a:ext cx="47242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Privacy-sensitive docs: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9119830" y="522065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62828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Local engines</a:t>
            </a:r>
            <a:endParaRPr lang="en-US" sz="17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799" y="5771555"/>
            <a:ext cx="45720" cy="6833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19830" y="5794415"/>
            <a:ext cx="47242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Enterprise accuracy: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9119830" y="6148507"/>
            <a:ext cx="297156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1579B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Azure DI + custom models</a:t>
            </a:r>
            <a:endParaRPr lang="en-US" sz="17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799" y="6699409"/>
            <a:ext cx="45720" cy="6833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119830" y="6722269"/>
            <a:ext cx="47242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 multimodal accuracy: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9119830" y="707636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57F17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Gemini 2.5 Pro</a:t>
            </a:r>
            <a:endParaRPr lang="en-US" sz="1750" dirty="0"/>
          </a:p>
        </p:txBody>
      </p:sp>
      <p:sp>
        <p:nvSpPr>
          <p:cNvPr id="24" name="Rectangle 23"/>
          <p:cNvSpPr/>
          <p:nvPr/>
        </p:nvSpPr>
        <p:spPr>
          <a:xfrm>
            <a:off x="12739607" y="7795648"/>
            <a:ext cx="1782305" cy="433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55162" y="1716405"/>
            <a:ext cx="63200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Future Work &amp; Closing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69419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 document analysis &amp; comparison with LegalAI system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document-type classification for intelligent engine routing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Higher-tier Gemini (2.5 Pro) for improved chart &amp; table accuracy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599521" y="2969419"/>
            <a:ext cx="62447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Quantitative cost-per-page &amp; scalability benchmarking under concurrent load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Azure DI with custom-trained domain-specific models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Confidence scoring in the extraction UI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33951" y="589502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  |  Questions Welcome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5639872"/>
            <a:ext cx="30480" cy="873204"/>
          </a:xfrm>
          <a:prstGeom prst="rect">
            <a:avLst/>
          </a:prstGeom>
          <a:solidFill>
            <a:srgbClr val="AAE4FE"/>
          </a:solidFill>
          <a:ln/>
        </p:spPr>
      </p:sp>
      <p:sp>
        <p:nvSpPr>
          <p:cNvPr id="7" name="Rectangle 6"/>
          <p:cNvSpPr/>
          <p:nvPr/>
        </p:nvSpPr>
        <p:spPr>
          <a:xfrm>
            <a:off x="12739607" y="7795648"/>
            <a:ext cx="1782305" cy="433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999</Words>
  <Application>Microsoft Office PowerPoint</Application>
  <PresentationFormat>Custom</PresentationFormat>
  <Paragraphs>203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Alexandria Medium</vt:lpstr>
      <vt:lpstr>Arial</vt:lpstr>
      <vt:lpstr>Manrope</vt:lpstr>
      <vt:lpstr>Calibri</vt:lpstr>
      <vt:lpstr>Alexandria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dell</cp:lastModifiedBy>
  <cp:revision>2</cp:revision>
  <dcterms:created xsi:type="dcterms:W3CDTF">2026-04-22T04:49:51Z</dcterms:created>
  <dcterms:modified xsi:type="dcterms:W3CDTF">2026-04-22T06:46:23Z</dcterms:modified>
</cp:coreProperties>
</file>