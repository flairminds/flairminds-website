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</p:sldIdLst>
  <p:sldSz cx="9144000" cy="5143500" type="screen16x9"/>
  <p:notesSz cx="5143500" cy="9144000"/>
  <p:embeddedFontLst>
    <p:embeddedFont>
      <p:font typeface="EB Garamond Medium" panose="020F0502020204030204" pitchFamily="2" charset="0"/>
      <p:regular r:id="rId13"/>
      <p:bold r:id="rId14"/>
      <p:italic r:id="rId15"/>
      <p:boldItalic r:id="rId16"/>
    </p:embeddedFont>
    <p:embeddedFont>
      <p:font typeface="Trebuchet MS" panose="020B0603020202020204" pitchFamily="3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jlzqbMI3wKhWRmKjL7fCrKeASL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0" name="Google Shape;39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4" name="Google Shape;43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7" name="Google Shape;51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0" name="Google Shape;58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8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137155" y="0"/>
            <a:ext cx="3291840" cy="5143500"/>
          </a:xfrm>
          <a:prstGeom prst="rect">
            <a:avLst/>
          </a:prstGeom>
          <a:solidFill>
            <a:srgbClr val="1523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" name="Google Shape;22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9184" y="634950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"/>
          <p:cNvSpPr/>
          <p:nvPr/>
        </p:nvSpPr>
        <p:spPr>
          <a:xfrm>
            <a:off x="1005840" y="786384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Trebuchet MS"/>
              <a:buNone/>
            </a:pPr>
            <a:r>
              <a:rPr lang="en-US" sz="1200" b="1" i="0" u="none" strike="noStrike" cap="none" dirty="0" err="1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SwiftIQ</a:t>
            </a:r>
            <a:r>
              <a:rPr lang="en-US" sz="1200" b="1" i="0" u="none" strike="noStrike" cap="none" dirty="0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 Guard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1005840" y="1101294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850"/>
              <a:buFont typeface="Calibri"/>
              <a:buNone/>
            </a:pPr>
            <a:r>
              <a:rPr lang="en-US" sz="850" b="0" i="0" u="none" strike="noStrike" cap="none" dirty="0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AML · SWIFT · Compliance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429000" y="640080"/>
            <a:ext cx="36576" cy="3840480"/>
          </a:xfrm>
          <a:prstGeom prst="rect">
            <a:avLst/>
          </a:prstGeom>
          <a:solidFill>
            <a:srgbClr val="1E32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3703320" y="640080"/>
            <a:ext cx="5212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Trebuchet MS"/>
              <a:buNone/>
            </a:pPr>
            <a:r>
              <a:rPr lang="en-US" sz="3800" b="1" dirty="0" err="1">
                <a:solidFill>
                  <a:srgbClr val="FFFFFF"/>
                </a:solidFill>
                <a:latin typeface="Trebuchet MS"/>
                <a:ea typeface="Calibri"/>
                <a:cs typeface="Calibri"/>
                <a:sym typeface="Trebuchet MS"/>
              </a:rPr>
              <a:t>SwiftIQ</a:t>
            </a:r>
            <a:endParaRPr sz="3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3703320" y="1207008"/>
            <a:ext cx="5212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3800"/>
              <a:buFont typeface="Trebuchet MS"/>
              <a:buNone/>
            </a:pPr>
            <a:r>
              <a:rPr lang="en-US" sz="3800" b="1" dirty="0">
                <a:solidFill>
                  <a:srgbClr val="00C2D4"/>
                </a:solidFill>
                <a:latin typeface="Trebuchet MS"/>
                <a:ea typeface="Calibri"/>
                <a:cs typeface="Calibri"/>
                <a:sym typeface="Trebuchet MS"/>
              </a:rPr>
              <a:t>Project Demo</a:t>
            </a:r>
            <a:endParaRPr sz="3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3703320" y="1901952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Research · Implementation · Business Presentation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3703320" y="2423160"/>
            <a:ext cx="5212080" cy="36576"/>
          </a:xfrm>
          <a:prstGeom prst="rect">
            <a:avLst/>
          </a:prstGeom>
          <a:solidFill>
            <a:srgbClr val="1E32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3703320" y="2760025"/>
            <a:ext cx="52122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3703325" y="2805852"/>
            <a:ext cx="52122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900"/>
              <a:buFont typeface="Calibri"/>
              <a:buNone/>
            </a:pPr>
            <a:r>
              <a:rPr lang="en-US" sz="1500" dirty="0">
                <a:solidFill>
                  <a:schemeClr val="lt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SWIFT Message Analysis</a:t>
            </a:r>
            <a:endParaRPr sz="1500" dirty="0">
              <a:solidFill>
                <a:schemeClr val="lt1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950"/>
              <a:buFont typeface="Calibri"/>
              <a:buNone/>
            </a:pPr>
            <a:endParaRPr sz="1550" dirty="0">
              <a:solidFill>
                <a:srgbClr val="E8F0F8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240A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7" name="Google Shape;257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49040" y="457200"/>
            <a:ext cx="1737360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7"/>
          <p:cNvSpPr/>
          <p:nvPr/>
        </p:nvSpPr>
        <p:spPr>
          <a:xfrm>
            <a:off x="457200" y="2743200"/>
            <a:ext cx="822960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Trebuchet MS"/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SwiftIQ Guard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914400" y="3657600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AML Compliance · Sanctions Screening · SWIFT Analysis  —  Presented to Management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8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384048" y="146304"/>
            <a:ext cx="1280160" cy="246888"/>
          </a:xfrm>
          <a:prstGeom prst="roundRect">
            <a:avLst>
              <a:gd name="adj" fmla="val 18519"/>
            </a:avLst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384048" y="146304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384048" y="457200"/>
            <a:ext cx="841248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What Compliance Officers Face Every Day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384048" y="1353312"/>
            <a:ext cx="8375904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384048" y="1426464"/>
            <a:ext cx="8375904" cy="658368"/>
          </a:xfrm>
          <a:prstGeom prst="roundRect">
            <a:avLst>
              <a:gd name="adj" fmla="val 12500"/>
            </a:avLst>
          </a:prstGeom>
          <a:solidFill>
            <a:srgbClr val="1A0A0A"/>
          </a:solidFill>
          <a:ln>
            <a:noFill/>
          </a:ln>
          <a:effectLst>
            <a:outerShdw blurRad="127000" dist="38100" dir="78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384048" y="1426464"/>
            <a:ext cx="8375904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8"/>
          <p:cNvSpPr/>
          <p:nvPr/>
        </p:nvSpPr>
        <p:spPr>
          <a:xfrm>
            <a:off x="594360" y="1536192"/>
            <a:ext cx="7955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Banks send millions of SWIFT payment messages daily. Every single one must be screened for money laundering, sanctions violations, and financial crime — before processing. Failure means criminal liability.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384048" y="2176272"/>
            <a:ext cx="2084832" cy="2624328"/>
          </a:xfrm>
          <a:prstGeom prst="roundRect">
            <a:avLst>
              <a:gd name="adj" fmla="val 3947"/>
            </a:avLst>
          </a:prstGeom>
          <a:solidFill>
            <a:srgbClr val="152338"/>
          </a:solidFill>
          <a:ln>
            <a:noFill/>
          </a:ln>
          <a:effectLst>
            <a:outerShdw blurRad="127000" dist="38100" dir="78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384048" y="2176272"/>
            <a:ext cx="64008" cy="26243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6" name="Google Shape;276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6968" y="230428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8"/>
          <p:cNvSpPr/>
          <p:nvPr/>
        </p:nvSpPr>
        <p:spPr>
          <a:xfrm>
            <a:off x="548640" y="2816352"/>
            <a:ext cx="18470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Manual &amp; Slow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548640" y="3218688"/>
            <a:ext cx="184708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lang="en-US" sz="80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Officers manually review 200–400 flagged transactions per day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548640" y="3703320"/>
            <a:ext cx="184708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lang="en-US" sz="80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Excel spreadsheets + paper audit files for regulated evidence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548640" y="4187952"/>
            <a:ext cx="184708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lang="en-US" sz="80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Average review time: 8–12 minutes per case under pressure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2606040" y="2176272"/>
            <a:ext cx="2084832" cy="2624328"/>
          </a:xfrm>
          <a:prstGeom prst="roundRect">
            <a:avLst>
              <a:gd name="adj" fmla="val 3947"/>
            </a:avLst>
          </a:prstGeom>
          <a:solidFill>
            <a:srgbClr val="152338"/>
          </a:solidFill>
          <a:ln>
            <a:noFill/>
          </a:ln>
          <a:effectLst>
            <a:outerShdw blurRad="127000" dist="38100" dir="78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8"/>
          <p:cNvSpPr/>
          <p:nvPr/>
        </p:nvSpPr>
        <p:spPr>
          <a:xfrm>
            <a:off x="2606040" y="2176272"/>
            <a:ext cx="64008" cy="26243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3" name="Google Shape;283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08960" y="230428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8"/>
          <p:cNvSpPr/>
          <p:nvPr/>
        </p:nvSpPr>
        <p:spPr>
          <a:xfrm>
            <a:off x="2770632" y="2816352"/>
            <a:ext cx="18470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Explainability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2770632" y="3218688"/>
            <a:ext cx="184708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lang="en-US" sz="80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Existing tools flag transactions but explain nothing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2770632" y="3703320"/>
            <a:ext cx="184708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lang="en-US" sz="80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"System flagged this" is not acceptable to a regulator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2770632" y="4187952"/>
            <a:ext cx="184708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lang="en-US" sz="80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Officers cannot defend a decision they don't understand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4828032" y="2176272"/>
            <a:ext cx="2084832" cy="2624328"/>
          </a:xfrm>
          <a:prstGeom prst="roundRect">
            <a:avLst>
              <a:gd name="adj" fmla="val 3947"/>
            </a:avLst>
          </a:prstGeom>
          <a:solidFill>
            <a:srgbClr val="152338"/>
          </a:solidFill>
          <a:ln>
            <a:noFill/>
          </a:ln>
          <a:effectLst>
            <a:outerShdw blurRad="127000" dist="38100" dir="78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4828032" y="2176272"/>
            <a:ext cx="64008" cy="26243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0" name="Google Shape;290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0952" y="230428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8"/>
          <p:cNvSpPr/>
          <p:nvPr/>
        </p:nvSpPr>
        <p:spPr>
          <a:xfrm>
            <a:off x="4992624" y="2816352"/>
            <a:ext cx="18470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Astronomical Vendor Cost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4992624" y="3218688"/>
            <a:ext cx="184708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lang="en-US" sz="80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NICE Actimize · Oracle FCCM · Fircosoft = $500K–$5M/yr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4992624" y="3703320"/>
            <a:ext cx="184708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lang="en-US" sz="80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Mid-tier &amp; regional banks simply cannot afford these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4992624" y="4187952"/>
            <a:ext cx="184708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lang="en-US" sz="80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Stuck using manual Excel-based processes to stay compliant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7050024" y="2176272"/>
            <a:ext cx="2084832" cy="2624328"/>
          </a:xfrm>
          <a:prstGeom prst="roundRect">
            <a:avLst>
              <a:gd name="adj" fmla="val 3947"/>
            </a:avLst>
          </a:prstGeom>
          <a:solidFill>
            <a:srgbClr val="152338"/>
          </a:solidFill>
          <a:ln>
            <a:noFill/>
          </a:ln>
          <a:effectLst>
            <a:outerShdw blurRad="127000" dist="38100" dir="78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7050024" y="2176272"/>
            <a:ext cx="64008" cy="26243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7" name="Google Shape;297;p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52944" y="230428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8"/>
          <p:cNvSpPr/>
          <p:nvPr/>
        </p:nvSpPr>
        <p:spPr>
          <a:xfrm>
            <a:off x="7214616" y="2816352"/>
            <a:ext cx="18470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Residency Violations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7214616" y="3218688"/>
            <a:ext cx="184708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lang="en-US" sz="80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Cloud-based vendors require sending transaction data externally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7214616" y="3703320"/>
            <a:ext cx="184708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lang="en-US" sz="80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GDPR (EU) &amp; MAS TRM (Singapore) prohibit this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7214616" y="4187952"/>
            <a:ext cx="184708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lang="en-US" sz="80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Compliance teams face a paradox: screen or stay compliant?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9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9"/>
          <p:cNvSpPr/>
          <p:nvPr/>
        </p:nvSpPr>
        <p:spPr>
          <a:xfrm>
            <a:off x="384048" y="146304"/>
            <a:ext cx="1687068" cy="246888"/>
          </a:xfrm>
          <a:prstGeom prst="roundRect">
            <a:avLst>
              <a:gd name="adj" fmla="val 18519"/>
            </a:avLst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9"/>
          <p:cNvSpPr/>
          <p:nvPr/>
        </p:nvSpPr>
        <p:spPr>
          <a:xfrm>
            <a:off x="384048" y="146304"/>
            <a:ext cx="1687068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384048" y="457200"/>
            <a:ext cx="841248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What Problem SwiftIQ Guard Solves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384048" y="1353312"/>
            <a:ext cx="8375904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9"/>
          <p:cNvSpPr/>
          <p:nvPr/>
        </p:nvSpPr>
        <p:spPr>
          <a:xfrm>
            <a:off x="384048" y="1426464"/>
            <a:ext cx="4160520" cy="3401568"/>
          </a:xfrm>
          <a:prstGeom prst="roundRect">
            <a:avLst>
              <a:gd name="adj" fmla="val 2419"/>
            </a:avLst>
          </a:prstGeom>
          <a:solidFill>
            <a:srgbClr val="152338"/>
          </a:solidFill>
          <a:ln>
            <a:noFill/>
          </a:ln>
          <a:effectLst>
            <a:outerShdw blurRad="127000" dist="38100" dir="78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9"/>
          <p:cNvSpPr/>
          <p:nvPr/>
        </p:nvSpPr>
        <p:spPr>
          <a:xfrm>
            <a:off x="384048" y="1426464"/>
            <a:ext cx="64008" cy="34015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9"/>
          <p:cNvSpPr/>
          <p:nvPr/>
        </p:nvSpPr>
        <p:spPr>
          <a:xfrm>
            <a:off x="566928" y="1536192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BEFORE: Status Quo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566928" y="1847088"/>
            <a:ext cx="3767328" cy="27432"/>
          </a:xfrm>
          <a:prstGeom prst="rect">
            <a:avLst/>
          </a:prstGeom>
          <a:solidFill>
            <a:srgbClr val="1E32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9"/>
          <p:cNvSpPr/>
          <p:nvPr/>
        </p:nvSpPr>
        <p:spPr>
          <a:xfrm>
            <a:off x="566928" y="1938528"/>
            <a:ext cx="3767328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80"/>
              <a:buFont typeface="Calibri"/>
              <a:buNone/>
            </a:pPr>
            <a:r>
              <a:rPr lang="en-US" sz="88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lang="en-US" sz="88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Actimize / FCCM: $500K–$5M/yr — budget killer for mid-tier banks</a:t>
            </a:r>
            <a:endParaRPr sz="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566928" y="2505456"/>
            <a:ext cx="3767328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80"/>
              <a:buFont typeface="Calibri"/>
              <a:buNone/>
            </a:pPr>
            <a:r>
              <a:rPr lang="en-US" sz="88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lang="en-US" sz="88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Vendor black box: officer cannot explain why a transaction was flagged</a:t>
            </a:r>
            <a:endParaRPr sz="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566928" y="3072384"/>
            <a:ext cx="3767328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80"/>
              <a:buFont typeface="Calibri"/>
              <a:buNone/>
            </a:pPr>
            <a:r>
              <a:rPr lang="en-US" sz="88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lang="en-US" sz="88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Transaction data sent to external cloud → GDPR / MAS TRM violation</a:t>
            </a:r>
            <a:endParaRPr sz="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566928" y="3639312"/>
            <a:ext cx="3767328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80"/>
              <a:buFont typeface="Calibri"/>
              <a:buNone/>
            </a:pPr>
            <a:r>
              <a:rPr lang="en-US" sz="88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lang="en-US" sz="88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No audit narrative: regulators demand explanation, system provides none</a:t>
            </a:r>
            <a:endParaRPr sz="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566928" y="4206240"/>
            <a:ext cx="3767328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80"/>
              <a:buFont typeface="Calibri"/>
              <a:buNone/>
            </a:pPr>
            <a:r>
              <a:rPr lang="en-US" sz="88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lang="en-US" sz="88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ISO 20022 MX migration ongoing — legacy tools not adapted</a:t>
            </a:r>
            <a:endParaRPr sz="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4718304" y="1426464"/>
            <a:ext cx="4041648" cy="3401568"/>
          </a:xfrm>
          <a:prstGeom prst="roundRect">
            <a:avLst>
              <a:gd name="adj" fmla="val 2419"/>
            </a:avLst>
          </a:prstGeom>
          <a:solidFill>
            <a:srgbClr val="152338"/>
          </a:solidFill>
          <a:ln>
            <a:noFill/>
          </a:ln>
          <a:effectLst>
            <a:outerShdw blurRad="127000" dist="38100" dir="78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4718304" y="1426464"/>
            <a:ext cx="64008" cy="3401568"/>
          </a:xfrm>
          <a:prstGeom prst="rect">
            <a:avLst/>
          </a:prstGeom>
          <a:solidFill>
            <a:srgbClr val="1EBF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9"/>
          <p:cNvSpPr/>
          <p:nvPr/>
        </p:nvSpPr>
        <p:spPr>
          <a:xfrm>
            <a:off x="4901184" y="153619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BF7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EBF7F"/>
                </a:solidFill>
                <a:latin typeface="Calibri"/>
                <a:ea typeface="Calibri"/>
                <a:cs typeface="Calibri"/>
                <a:sym typeface="Calibri"/>
              </a:rPr>
              <a:t>AFTER: SwiftIQ Guard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4901184" y="1847088"/>
            <a:ext cx="3657600" cy="27432"/>
          </a:xfrm>
          <a:prstGeom prst="rect">
            <a:avLst/>
          </a:prstGeom>
          <a:solidFill>
            <a:srgbClr val="1E32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4901184" y="1938528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BF7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BF7F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Open-stack, on-premise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4901184" y="2185416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820"/>
              <a:buFont typeface="Calibri"/>
              <a:buNone/>
            </a:pPr>
            <a:r>
              <a:rPr lang="en-US" sz="82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$500–$3K/month — 200× cheaper than enterprise licensing</a:t>
            </a:r>
            <a:endParaRPr sz="8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4901184" y="2505456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BF7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BF7F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Fully explainable AI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4901184" y="275234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820"/>
              <a:buFont typeface="Calibri"/>
              <a:buNone/>
            </a:pPr>
            <a:r>
              <a:rPr lang="en-US" sz="82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Every flag comes with a plain-English audit narrative</a:t>
            </a:r>
            <a:endParaRPr sz="8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4901184" y="307238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BF7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BF7F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Zero data leaves the bank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4901184" y="331927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820"/>
              <a:buFont typeface="Calibri"/>
              <a:buNone/>
            </a:pPr>
            <a:r>
              <a:rPr lang="en-US" sz="82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All inference on-premise — GDPR &amp; MAS TRM compliant</a:t>
            </a:r>
            <a:endParaRPr sz="8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4901184" y="363931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BF7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BF7F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AI-generated SAR drafts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4901184" y="3886200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820"/>
              <a:buFont typeface="Calibri"/>
              <a:buNone/>
            </a:pPr>
            <a:r>
              <a:rPr lang="en-US" sz="82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Compliance officers get draft Suspicious Activity Reports</a:t>
            </a:r>
            <a:endParaRPr sz="8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4901184" y="4206240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BF7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BF7F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ISO 20022 MX ready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4901184" y="4453128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820"/>
              <a:buFont typeface="Calibri"/>
              <a:buNone/>
            </a:pPr>
            <a:r>
              <a:rPr lang="en-US" sz="82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Screens MT103, MT700 and MX pain.001 natively</a:t>
            </a:r>
            <a:endParaRPr sz="8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384048" y="4919472"/>
            <a:ext cx="8375904" cy="128016"/>
          </a:xfrm>
          <a:prstGeom prst="roundRect">
            <a:avLst>
              <a:gd name="adj" fmla="val 64286"/>
            </a:avLst>
          </a:prstGeom>
          <a:solidFill>
            <a:srgbClr val="3B24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0"/>
          <p:cNvSpPr/>
          <p:nvPr/>
        </p:nvSpPr>
        <p:spPr>
          <a:xfrm>
            <a:off x="384048" y="146304"/>
            <a:ext cx="1298448" cy="246888"/>
          </a:xfrm>
          <a:prstGeom prst="roundRect">
            <a:avLst>
              <a:gd name="adj" fmla="val 18519"/>
            </a:avLst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384048" y="146304"/>
            <a:ext cx="1298448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OUR APPROACH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384048" y="457200"/>
            <a:ext cx="841248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4-Tier Screening Engine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384048" y="1353312"/>
            <a:ext cx="8375904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0"/>
          <p:cNvSpPr/>
          <p:nvPr/>
        </p:nvSpPr>
        <p:spPr>
          <a:xfrm>
            <a:off x="384048" y="1426464"/>
            <a:ext cx="8375904" cy="804672"/>
          </a:xfrm>
          <a:prstGeom prst="roundRect">
            <a:avLst>
              <a:gd name="adj" fmla="val 10227"/>
            </a:avLst>
          </a:prstGeom>
          <a:solidFill>
            <a:srgbClr val="152338"/>
          </a:solidFill>
          <a:ln>
            <a:noFill/>
          </a:ln>
          <a:effectLst>
            <a:outerShdw blurRad="127000" dist="38100" dir="78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0"/>
          <p:cNvSpPr/>
          <p:nvPr/>
        </p:nvSpPr>
        <p:spPr>
          <a:xfrm>
            <a:off x="384048" y="1426464"/>
            <a:ext cx="64008" cy="8046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0"/>
          <p:cNvSpPr/>
          <p:nvPr/>
        </p:nvSpPr>
        <p:spPr>
          <a:xfrm>
            <a:off x="566928" y="1700784"/>
            <a:ext cx="749808" cy="237744"/>
          </a:xfrm>
          <a:prstGeom prst="roundRect">
            <a:avLst>
              <a:gd name="adj" fmla="val 19231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0"/>
          <p:cNvSpPr/>
          <p:nvPr/>
        </p:nvSpPr>
        <p:spPr>
          <a:xfrm>
            <a:off x="566928" y="1700784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Tier 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1463040" y="1517904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Rule Engine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1463040" y="1901952"/>
            <a:ext cx="2926080" cy="201168"/>
          </a:xfrm>
          <a:prstGeom prst="roundRect">
            <a:avLst>
              <a:gd name="adj" fmla="val 18182"/>
            </a:avLst>
          </a:prstGeom>
          <a:solidFill>
            <a:srgbClr val="070C1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0"/>
          <p:cNvSpPr/>
          <p:nvPr/>
        </p:nvSpPr>
        <p:spPr>
          <a:xfrm>
            <a:off x="1463040" y="1901952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4572000" y="1517904"/>
            <a:ext cx="347472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880"/>
              <a:buFont typeface="Calibri"/>
              <a:buNone/>
            </a:pPr>
            <a:r>
              <a:rPr lang="en-US" sz="88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Amount thresholds · Country corridors · HS code dual-use goods · Instant flags</a:t>
            </a:r>
            <a:endParaRPr sz="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8138160" y="1700784"/>
            <a:ext cx="530352" cy="237744"/>
          </a:xfrm>
          <a:prstGeom prst="roundRect">
            <a:avLst>
              <a:gd name="adj" fmla="val 23077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0"/>
          <p:cNvSpPr/>
          <p:nvPr/>
        </p:nvSpPr>
        <p:spPr>
          <a:xfrm>
            <a:off x="8138160" y="1700784"/>
            <a:ext cx="53035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 5ms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384048" y="2313432"/>
            <a:ext cx="8375904" cy="804672"/>
          </a:xfrm>
          <a:prstGeom prst="roundRect">
            <a:avLst>
              <a:gd name="adj" fmla="val 10227"/>
            </a:avLst>
          </a:prstGeom>
          <a:solidFill>
            <a:srgbClr val="152338"/>
          </a:solidFill>
          <a:ln>
            <a:noFill/>
          </a:ln>
          <a:effectLst>
            <a:outerShdw blurRad="127000" dist="38100" dir="78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0"/>
          <p:cNvSpPr/>
          <p:nvPr/>
        </p:nvSpPr>
        <p:spPr>
          <a:xfrm>
            <a:off x="384048" y="2313432"/>
            <a:ext cx="64008" cy="804672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0"/>
          <p:cNvSpPr/>
          <p:nvPr/>
        </p:nvSpPr>
        <p:spPr>
          <a:xfrm>
            <a:off x="566928" y="2587752"/>
            <a:ext cx="749808" cy="237744"/>
          </a:xfrm>
          <a:prstGeom prst="roundRect">
            <a:avLst>
              <a:gd name="adj" fmla="val 19231"/>
            </a:avLst>
          </a:prstGeom>
          <a:solidFill>
            <a:srgbClr val="00C2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0"/>
          <p:cNvSpPr/>
          <p:nvPr/>
        </p:nvSpPr>
        <p:spPr>
          <a:xfrm>
            <a:off x="566928" y="2587752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Tier 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1463040" y="240487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 Models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1463040" y="2788920"/>
            <a:ext cx="2926080" cy="201168"/>
          </a:xfrm>
          <a:prstGeom prst="roundRect">
            <a:avLst>
              <a:gd name="adj" fmla="val 18182"/>
            </a:avLst>
          </a:prstGeom>
          <a:solidFill>
            <a:srgbClr val="070C1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0"/>
          <p:cNvSpPr/>
          <p:nvPr/>
        </p:nvSpPr>
        <p:spPr>
          <a:xfrm>
            <a:off x="1463040" y="2788920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00C2D4"/>
                </a:solidFill>
                <a:latin typeface="Calibri"/>
                <a:ea typeface="Calibri"/>
                <a:cs typeface="Calibri"/>
                <a:sym typeface="Calibri"/>
              </a:rPr>
              <a:t>XGBoost + Isolation Forest (Python Flask)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4572000" y="2404872"/>
            <a:ext cx="347472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880"/>
              <a:buFont typeface="Calibri"/>
              <a:buNone/>
            </a:pPr>
            <a:r>
              <a:rPr lang="en-US" sz="88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AML probability scoring · Behavioral anomaly detection · Trained on 50K SWIFT vectors</a:t>
            </a:r>
            <a:endParaRPr sz="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8138160" y="2587752"/>
            <a:ext cx="530352" cy="237744"/>
          </a:xfrm>
          <a:prstGeom prst="roundRect">
            <a:avLst>
              <a:gd name="adj" fmla="val 23077"/>
            </a:avLst>
          </a:prstGeom>
          <a:solidFill>
            <a:srgbClr val="00C2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0"/>
          <p:cNvSpPr/>
          <p:nvPr/>
        </p:nvSpPr>
        <p:spPr>
          <a:xfrm>
            <a:off x="8138160" y="2587752"/>
            <a:ext cx="53035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 500ms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384048" y="3200400"/>
            <a:ext cx="8375904" cy="804672"/>
          </a:xfrm>
          <a:prstGeom prst="roundRect">
            <a:avLst>
              <a:gd name="adj" fmla="val 10227"/>
            </a:avLst>
          </a:prstGeom>
          <a:solidFill>
            <a:srgbClr val="152338"/>
          </a:solidFill>
          <a:ln>
            <a:noFill/>
          </a:ln>
          <a:effectLst>
            <a:outerShdw blurRad="127000" dist="38100" dir="78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0"/>
          <p:cNvSpPr/>
          <p:nvPr/>
        </p:nvSpPr>
        <p:spPr>
          <a:xfrm>
            <a:off x="384048" y="3200400"/>
            <a:ext cx="64008" cy="8046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0"/>
          <p:cNvSpPr/>
          <p:nvPr/>
        </p:nvSpPr>
        <p:spPr>
          <a:xfrm>
            <a:off x="566928" y="3474720"/>
            <a:ext cx="749808" cy="237744"/>
          </a:xfrm>
          <a:prstGeom prst="roundRect">
            <a:avLst>
              <a:gd name="adj" fmla="val 19231"/>
            </a:avLst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0"/>
          <p:cNvSpPr/>
          <p:nvPr/>
        </p:nvSpPr>
        <p:spPr>
          <a:xfrm>
            <a:off x="566928" y="3474720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Tier 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1463040" y="329184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Sanctions Screening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1463040" y="3675888"/>
            <a:ext cx="2926080" cy="201168"/>
          </a:xfrm>
          <a:prstGeom prst="roundRect">
            <a:avLst>
              <a:gd name="adj" fmla="val 18182"/>
            </a:avLst>
          </a:prstGeom>
          <a:solidFill>
            <a:srgbClr val="070C1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0"/>
          <p:cNvSpPr/>
          <p:nvPr/>
        </p:nvSpPr>
        <p:spPr>
          <a:xfrm>
            <a:off x="1463040" y="367588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Fuzzy Match · Levenshtein Distance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4572000" y="3291840"/>
            <a:ext cx="347472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880"/>
              <a:buFont typeface="Calibri"/>
              <a:buNone/>
            </a:pPr>
            <a:r>
              <a:rPr lang="en-US" sz="88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OFAC / EU / UN watchlists · 80%+ similarity catches typos &amp; transliterations</a:t>
            </a:r>
            <a:endParaRPr sz="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8138160" y="3474720"/>
            <a:ext cx="530352" cy="237744"/>
          </a:xfrm>
          <a:prstGeom prst="roundRect">
            <a:avLst>
              <a:gd name="adj" fmla="val 23077"/>
            </a:avLst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0"/>
          <p:cNvSpPr/>
          <p:nvPr/>
        </p:nvSpPr>
        <p:spPr>
          <a:xfrm>
            <a:off x="8138160" y="3474720"/>
            <a:ext cx="53035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 200ms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384048" y="4087368"/>
            <a:ext cx="8375904" cy="804672"/>
          </a:xfrm>
          <a:prstGeom prst="roundRect">
            <a:avLst>
              <a:gd name="adj" fmla="val 10227"/>
            </a:avLst>
          </a:prstGeom>
          <a:solidFill>
            <a:srgbClr val="152338"/>
          </a:solidFill>
          <a:ln>
            <a:noFill/>
          </a:ln>
          <a:effectLst>
            <a:outerShdw blurRad="127000" dist="38100" dir="78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0"/>
          <p:cNvSpPr/>
          <p:nvPr/>
        </p:nvSpPr>
        <p:spPr>
          <a:xfrm>
            <a:off x="384048" y="4087368"/>
            <a:ext cx="64008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0"/>
          <p:cNvSpPr/>
          <p:nvPr/>
        </p:nvSpPr>
        <p:spPr>
          <a:xfrm>
            <a:off x="566928" y="4361688"/>
            <a:ext cx="749808" cy="237744"/>
          </a:xfrm>
          <a:prstGeom prst="roundRect">
            <a:avLst>
              <a:gd name="adj" fmla="val 19231"/>
            </a:avLst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0"/>
          <p:cNvSpPr/>
          <p:nvPr/>
        </p:nvSpPr>
        <p:spPr>
          <a:xfrm>
            <a:off x="566928" y="43616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Tier 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1463040" y="417880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Safe-Path + AI Narrative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1463040" y="4562856"/>
            <a:ext cx="2926080" cy="201168"/>
          </a:xfrm>
          <a:prstGeom prst="roundRect">
            <a:avLst>
              <a:gd name="adj" fmla="val 18182"/>
            </a:avLst>
          </a:prstGeom>
          <a:solidFill>
            <a:srgbClr val="070C1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0"/>
          <p:cNvSpPr/>
          <p:nvPr/>
        </p:nvSpPr>
        <p:spPr>
          <a:xfrm>
            <a:off x="1463040" y="4562856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Llama 3.1 on-premise · Ollama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4572000" y="4178808"/>
            <a:ext cx="347472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880"/>
              <a:buFont typeface="Calibri"/>
              <a:buNone/>
            </a:pPr>
            <a:r>
              <a:rPr lang="en-US" sz="88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Max-severity consensus · 2-4 sentence audit narrative · Supabase immutable log</a:t>
            </a:r>
            <a:endParaRPr sz="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8138160" y="4361688"/>
            <a:ext cx="530352" cy="237744"/>
          </a:xfrm>
          <a:prstGeom prst="roundRect">
            <a:avLst>
              <a:gd name="adj" fmla="val 23077"/>
            </a:avLst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0"/>
          <p:cNvSpPr/>
          <p:nvPr/>
        </p:nvSpPr>
        <p:spPr>
          <a:xfrm>
            <a:off x="8138160" y="4361688"/>
            <a:ext cx="53035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 2s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384048" y="4956048"/>
            <a:ext cx="8375904" cy="109728"/>
          </a:xfrm>
          <a:prstGeom prst="roundRect">
            <a:avLst>
              <a:gd name="adj" fmla="val 75000"/>
            </a:avLst>
          </a:prstGeom>
          <a:solidFill>
            <a:srgbClr val="3B24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0"/>
          <p:cNvSpPr/>
          <p:nvPr/>
        </p:nvSpPr>
        <p:spPr>
          <a:xfrm>
            <a:off x="384048" y="4974336"/>
            <a:ext cx="8375904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Safe-Path Rule: Highest severity always wins — a CRITICAL rule flag overrides a LOW ML score. False negatives cost billions; false positives cost 5 minutes.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1"/>
          <p:cNvSpPr/>
          <p:nvPr/>
        </p:nvSpPr>
        <p:spPr>
          <a:xfrm>
            <a:off x="384048" y="146304"/>
            <a:ext cx="1764792" cy="246888"/>
          </a:xfrm>
          <a:prstGeom prst="roundRect">
            <a:avLst>
              <a:gd name="adj" fmla="val 18519"/>
            </a:avLst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1"/>
          <p:cNvSpPr/>
          <p:nvPr/>
        </p:nvSpPr>
        <p:spPr>
          <a:xfrm>
            <a:off x="384048" y="146304"/>
            <a:ext cx="1764792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MARKET POSITIONING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1"/>
          <p:cNvSpPr/>
          <p:nvPr/>
        </p:nvSpPr>
        <p:spPr>
          <a:xfrm>
            <a:off x="384048" y="457200"/>
            <a:ext cx="841248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Where SwiftIQ Guard Fits in the Market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384048" y="1353312"/>
            <a:ext cx="8375904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11"/>
          <p:cNvSpPr/>
          <p:nvPr/>
        </p:nvSpPr>
        <p:spPr>
          <a:xfrm>
            <a:off x="384048" y="1408176"/>
            <a:ext cx="8375904" cy="822960"/>
          </a:xfrm>
          <a:prstGeom prst="roundRect">
            <a:avLst>
              <a:gd name="adj" fmla="val 10000"/>
            </a:avLst>
          </a:prstGeom>
          <a:solidFill>
            <a:srgbClr val="1E32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1"/>
          <p:cNvSpPr/>
          <p:nvPr/>
        </p:nvSpPr>
        <p:spPr>
          <a:xfrm>
            <a:off x="384048" y="1408176"/>
            <a:ext cx="64008" cy="822960"/>
          </a:xfrm>
          <a:prstGeom prst="rect">
            <a:avLst/>
          </a:prstGeom>
          <a:solidFill>
            <a:srgbClr val="3A52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0" name="Google Shape;400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4360" y="160934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11"/>
          <p:cNvSpPr/>
          <p:nvPr/>
        </p:nvSpPr>
        <p:spPr>
          <a:xfrm>
            <a:off x="1097280" y="149961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Tier 1 Banks — Large Global Institutions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1"/>
          <p:cNvSpPr/>
          <p:nvPr/>
        </p:nvSpPr>
        <p:spPr>
          <a:xfrm>
            <a:off x="1097280" y="1810512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Already served by NICE Actimize, Oracle FCCM, Fircosoft · $500K–$5M/yr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6172200" y="157276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NOT your direct replacement target — but SwiftIQ is their augmentation layer ↓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6309360" y="1883664"/>
            <a:ext cx="2103120" cy="201168"/>
          </a:xfrm>
          <a:prstGeom prst="roundRect">
            <a:avLst>
              <a:gd name="adj" fmla="val 22727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1"/>
          <p:cNvSpPr/>
          <p:nvPr/>
        </p:nvSpPr>
        <p:spPr>
          <a:xfrm>
            <a:off x="6309360" y="1883664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AUGMENTATION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1"/>
          <p:cNvSpPr/>
          <p:nvPr/>
        </p:nvSpPr>
        <p:spPr>
          <a:xfrm>
            <a:off x="384048" y="2313432"/>
            <a:ext cx="8375904" cy="822960"/>
          </a:xfrm>
          <a:prstGeom prst="roundRect">
            <a:avLst>
              <a:gd name="adj" fmla="val 10000"/>
            </a:avLst>
          </a:prstGeom>
          <a:solidFill>
            <a:srgbClr val="152338"/>
          </a:solidFill>
          <a:ln>
            <a:noFill/>
          </a:ln>
          <a:effectLst>
            <a:outerShdw blurRad="127000" dist="38100" dir="78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1"/>
          <p:cNvSpPr/>
          <p:nvPr/>
        </p:nvSpPr>
        <p:spPr>
          <a:xfrm>
            <a:off x="384048" y="2313432"/>
            <a:ext cx="64008" cy="82296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8" name="Google Shape;408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4360" y="251460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11"/>
          <p:cNvSpPr/>
          <p:nvPr/>
        </p:nvSpPr>
        <p:spPr>
          <a:xfrm>
            <a:off x="1097280" y="2404872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Mid-Tier Banks, Regional Banks, Co-operative Banks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1097280" y="2715768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AML compliance required by law · No budget for $1M enterprise tools · Using Excel + manual review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6172200" y="2478024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0C2D4"/>
                </a:solidFill>
                <a:latin typeface="Calibri"/>
                <a:ea typeface="Calibri"/>
                <a:cs typeface="Calibri"/>
                <a:sym typeface="Calibri"/>
              </a:rPr>
              <a:t>✦ Primary target — this is where you win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6309360" y="2788920"/>
            <a:ext cx="2103120" cy="201168"/>
          </a:xfrm>
          <a:prstGeom prst="roundRect">
            <a:avLst>
              <a:gd name="adj" fmla="val 22727"/>
            </a:avLst>
          </a:prstGeom>
          <a:solidFill>
            <a:srgbClr val="00C2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1"/>
          <p:cNvSpPr/>
          <p:nvPr/>
        </p:nvSpPr>
        <p:spPr>
          <a:xfrm>
            <a:off x="6309360" y="2788920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 TARGET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384048" y="3218688"/>
            <a:ext cx="8375904" cy="822960"/>
          </a:xfrm>
          <a:prstGeom prst="roundRect">
            <a:avLst>
              <a:gd name="adj" fmla="val 10000"/>
            </a:avLst>
          </a:prstGeom>
          <a:solidFill>
            <a:srgbClr val="152338"/>
          </a:solidFill>
          <a:ln>
            <a:noFill/>
          </a:ln>
          <a:effectLst>
            <a:outerShdw blurRad="127000" dist="38100" dir="78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1"/>
          <p:cNvSpPr/>
          <p:nvPr/>
        </p:nvSpPr>
        <p:spPr>
          <a:xfrm>
            <a:off x="384048" y="3218688"/>
            <a:ext cx="64008" cy="8229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6" name="Google Shape;416;p1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360" y="341985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11"/>
          <p:cNvSpPr/>
          <p:nvPr/>
        </p:nvSpPr>
        <p:spPr>
          <a:xfrm>
            <a:off x="1097280" y="3310128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Fintechs, Neobanks, Payment Service Providers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1"/>
          <p:cNvSpPr/>
          <p:nvPr/>
        </p:nvSpPr>
        <p:spPr>
          <a:xfrm>
            <a:off x="1097280" y="3621024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Required to screen SWIFT transactions · No compliance team · Engineers running rules manually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6172200" y="338328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✦ Secondary target — fastest growing segment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1"/>
          <p:cNvSpPr/>
          <p:nvPr/>
        </p:nvSpPr>
        <p:spPr>
          <a:xfrm>
            <a:off x="6309360" y="3694176"/>
            <a:ext cx="2103120" cy="201168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1"/>
          <p:cNvSpPr/>
          <p:nvPr/>
        </p:nvSpPr>
        <p:spPr>
          <a:xfrm>
            <a:off x="6309360" y="3694176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SECONDARY TARGET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384048" y="4123944"/>
            <a:ext cx="8375904" cy="822960"/>
          </a:xfrm>
          <a:prstGeom prst="roundRect">
            <a:avLst>
              <a:gd name="adj" fmla="val 10000"/>
            </a:avLst>
          </a:prstGeom>
          <a:solidFill>
            <a:srgbClr val="152338"/>
          </a:solidFill>
          <a:ln>
            <a:noFill/>
          </a:ln>
          <a:effectLst>
            <a:outerShdw blurRad="127000" dist="38100" dir="78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11"/>
          <p:cNvSpPr/>
          <p:nvPr/>
        </p:nvSpPr>
        <p:spPr>
          <a:xfrm>
            <a:off x="384048" y="4123944"/>
            <a:ext cx="64008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4" name="Google Shape;424;p1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4360" y="432511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11"/>
          <p:cNvSpPr/>
          <p:nvPr/>
        </p:nvSpPr>
        <p:spPr>
          <a:xfrm>
            <a:off x="1097280" y="4215384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RegTech Consultancies &amp; Compliance Outsourcing Firms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1"/>
          <p:cNvSpPr/>
          <p:nvPr/>
        </p:nvSpPr>
        <p:spPr>
          <a:xfrm>
            <a:off x="1097280" y="4526280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Audit compliance for 10–50 small banks · Need a tool to run analyses · White-label opportunity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6172200" y="4288536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✦ Channel partner — multiplies reach without direct sales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1"/>
          <p:cNvSpPr/>
          <p:nvPr/>
        </p:nvSpPr>
        <p:spPr>
          <a:xfrm>
            <a:off x="6309360" y="4599432"/>
            <a:ext cx="2103120" cy="201168"/>
          </a:xfrm>
          <a:prstGeom prst="roundRect">
            <a:avLst>
              <a:gd name="adj" fmla="val 22727"/>
            </a:avLst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1"/>
          <p:cNvSpPr/>
          <p:nvPr/>
        </p:nvSpPr>
        <p:spPr>
          <a:xfrm>
            <a:off x="6309360" y="4599432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CHANNEL PARTNER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1"/>
          <p:cNvSpPr/>
          <p:nvPr/>
        </p:nvSpPr>
        <p:spPr>
          <a:xfrm>
            <a:off x="384048" y="5029200"/>
            <a:ext cx="8375904" cy="0"/>
          </a:xfrm>
          <a:prstGeom prst="roundRect">
            <a:avLst>
              <a:gd name="adj" fmla="val 16667"/>
            </a:avLst>
          </a:prstGeom>
          <a:solidFill>
            <a:srgbClr val="1E32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11"/>
          <p:cNvSpPr/>
          <p:nvPr/>
        </p:nvSpPr>
        <p:spPr>
          <a:xfrm>
            <a:off x="384048" y="5047488"/>
            <a:ext cx="8375904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ISO 20022 migration pressure is pushing ALL tiers to modernise right now — that is your timing window.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12"/>
          <p:cNvSpPr/>
          <p:nvPr/>
        </p:nvSpPr>
        <p:spPr>
          <a:xfrm>
            <a:off x="384048" y="146304"/>
            <a:ext cx="1531620" cy="246888"/>
          </a:xfrm>
          <a:prstGeom prst="roundRect">
            <a:avLst>
              <a:gd name="adj" fmla="val 18519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12"/>
          <p:cNvSpPr/>
          <p:nvPr/>
        </p:nvSpPr>
        <p:spPr>
          <a:xfrm>
            <a:off x="384048" y="146304"/>
            <a:ext cx="153162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TIER 1 STRATEGY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2"/>
          <p:cNvSpPr/>
          <p:nvPr/>
        </p:nvSpPr>
        <p:spPr>
          <a:xfrm>
            <a:off x="384048" y="457200"/>
            <a:ext cx="841248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SwiftIQ as an Augmentation Layer — Tier 1 Stack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384048" y="1353312"/>
            <a:ext cx="8375904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2"/>
          <p:cNvSpPr/>
          <p:nvPr/>
        </p:nvSpPr>
        <p:spPr>
          <a:xfrm>
            <a:off x="2103120" y="1408176"/>
            <a:ext cx="4937760" cy="502920"/>
          </a:xfrm>
          <a:prstGeom prst="roundRect">
            <a:avLst>
              <a:gd name="adj" fmla="val 16364"/>
            </a:avLst>
          </a:prstGeom>
          <a:solidFill>
            <a:srgbClr val="152338"/>
          </a:solidFill>
          <a:ln>
            <a:noFill/>
          </a:ln>
          <a:effectLst>
            <a:outerShdw blurRad="127000" dist="38100" dir="78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2"/>
          <p:cNvSpPr/>
          <p:nvPr/>
        </p:nvSpPr>
        <p:spPr>
          <a:xfrm>
            <a:off x="2103120" y="1408176"/>
            <a:ext cx="4937760" cy="50292"/>
          </a:xfrm>
          <a:prstGeom prst="rect">
            <a:avLst/>
          </a:prstGeom>
          <a:solidFill>
            <a:srgbClr val="3A52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2"/>
          <p:cNvSpPr/>
          <p:nvPr/>
        </p:nvSpPr>
        <p:spPr>
          <a:xfrm>
            <a:off x="2286000" y="1463040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SWIFT Network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2286000" y="1700784"/>
            <a:ext cx="457200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MT103 / MX pain.001 messages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2103120" y="1920240"/>
            <a:ext cx="4937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A527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3A5270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2103120" y="2103120"/>
            <a:ext cx="4937760" cy="640080"/>
          </a:xfrm>
          <a:prstGeom prst="roundRect">
            <a:avLst>
              <a:gd name="adj" fmla="val 12857"/>
            </a:avLst>
          </a:prstGeom>
          <a:solidFill>
            <a:srgbClr val="1E3250"/>
          </a:solidFill>
          <a:ln>
            <a:noFill/>
          </a:ln>
          <a:effectLst>
            <a:outerShdw blurRad="127000" dist="38100" dir="78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2"/>
          <p:cNvSpPr/>
          <p:nvPr/>
        </p:nvSpPr>
        <p:spPr>
          <a:xfrm>
            <a:off x="2103120" y="2103120"/>
            <a:ext cx="4937760" cy="50292"/>
          </a:xfrm>
          <a:prstGeom prst="rect">
            <a:avLst/>
          </a:prstGeom>
          <a:solidFill>
            <a:srgbClr val="3A52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2"/>
          <p:cNvSpPr/>
          <p:nvPr/>
        </p:nvSpPr>
        <p:spPr>
          <a:xfrm>
            <a:off x="2286000" y="2157984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Existing Enterprise AML Tool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2"/>
          <p:cNvSpPr/>
          <p:nvPr/>
        </p:nvSpPr>
        <p:spPr>
          <a:xfrm>
            <a:off x="2286000" y="2404872"/>
            <a:ext cx="457200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A5270"/>
              </a:buClr>
              <a:buSzPts val="780"/>
              <a:buFont typeface="Calibri"/>
              <a:buNone/>
            </a:pPr>
            <a:r>
              <a:rPr lang="en-US" sz="780" b="0" i="0" u="none" strike="noStrike" cap="none">
                <a:solidFill>
                  <a:srgbClr val="3A5270"/>
                </a:solidFill>
                <a:latin typeface="Calibri"/>
                <a:ea typeface="Calibri"/>
                <a:cs typeface="Calibri"/>
                <a:sym typeface="Calibri"/>
              </a:rPr>
              <a:t>NICE Actimize / Oracle FCCM / Fircosoft  ·  Risk scores, rule hits, watchlist</a:t>
            </a:r>
            <a:endParaRPr sz="7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2"/>
          <p:cNvSpPr/>
          <p:nvPr/>
        </p:nvSpPr>
        <p:spPr>
          <a:xfrm>
            <a:off x="2286000" y="2587752"/>
            <a:ext cx="4572000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A5270"/>
              </a:buClr>
              <a:buSzPts val="750"/>
              <a:buFont typeface="Calibri"/>
              <a:buNone/>
            </a:pPr>
            <a:r>
              <a:rPr lang="en-US" sz="750" b="0" i="1" u="none" strike="noStrike" cap="none">
                <a:solidFill>
                  <a:srgbClr val="3A5270"/>
                </a:solidFill>
                <a:latin typeface="Calibri"/>
                <a:ea typeface="Calibri"/>
                <a:cs typeface="Calibri"/>
                <a:sym typeface="Calibri"/>
              </a:rPr>
              <a:t>Already installed · Already signed off · Already paid for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2"/>
          <p:cNvSpPr/>
          <p:nvPr/>
        </p:nvSpPr>
        <p:spPr>
          <a:xfrm>
            <a:off x="2103120" y="2761488"/>
            <a:ext cx="49377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↓  alert feed (API / SFTP export)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2103120" y="2962656"/>
            <a:ext cx="4937760" cy="713232"/>
          </a:xfrm>
          <a:prstGeom prst="roundRect">
            <a:avLst>
              <a:gd name="adj" fmla="val 11538"/>
            </a:avLst>
          </a:prstGeom>
          <a:solidFill>
            <a:srgbClr val="083A42"/>
          </a:solidFill>
          <a:ln>
            <a:noFill/>
          </a:ln>
          <a:effectLst>
            <a:outerShdw blurRad="127000" dist="38100" dir="78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12"/>
          <p:cNvSpPr/>
          <p:nvPr/>
        </p:nvSpPr>
        <p:spPr>
          <a:xfrm>
            <a:off x="2103120" y="2962656"/>
            <a:ext cx="4937760" cy="59436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12"/>
          <p:cNvSpPr/>
          <p:nvPr/>
        </p:nvSpPr>
        <p:spPr>
          <a:xfrm>
            <a:off x="2286000" y="303580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0C2D4"/>
                </a:solidFill>
                <a:latin typeface="Calibri"/>
                <a:ea typeface="Calibri"/>
                <a:cs typeface="Calibri"/>
                <a:sym typeface="Calibri"/>
              </a:rPr>
              <a:t>SwiftIQ Guard — Augmentation Layer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2286000" y="329184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F0F8"/>
              </a:buClr>
              <a:buSzPts val="820"/>
              <a:buFont typeface="Calibri"/>
              <a:buNone/>
            </a:pPr>
            <a:r>
              <a:rPr lang="en-US" sz="820" b="0" i="0" u="none" strike="noStrike" cap="none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Ingests alerts · Adds LLM narrative · Flags ISO 20022 MX gaps · Challenger model scoring</a:t>
            </a:r>
            <a:endParaRPr sz="8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2"/>
          <p:cNvSpPr/>
          <p:nvPr/>
        </p:nvSpPr>
        <p:spPr>
          <a:xfrm>
            <a:off x="2286000" y="3493008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780"/>
              <a:buFont typeface="Calibri"/>
              <a:buNone/>
            </a:pPr>
            <a:r>
              <a:rPr lang="en-US" sz="780" b="0" i="1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Runs on-premise · No data leaves · Audit trail immutable</a:t>
            </a:r>
            <a:endParaRPr sz="7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2"/>
          <p:cNvSpPr/>
          <p:nvPr/>
        </p:nvSpPr>
        <p:spPr>
          <a:xfrm>
            <a:off x="384048" y="3785616"/>
            <a:ext cx="3840480" cy="658368"/>
          </a:xfrm>
          <a:prstGeom prst="roundRect">
            <a:avLst>
              <a:gd name="adj" fmla="val 12500"/>
            </a:avLst>
          </a:prstGeom>
          <a:solidFill>
            <a:srgbClr val="1E1040"/>
          </a:solidFill>
          <a:ln>
            <a:noFill/>
          </a:ln>
          <a:effectLst>
            <a:outerShdw blurRad="127000" dist="38100" dir="78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12"/>
          <p:cNvSpPr/>
          <p:nvPr/>
        </p:nvSpPr>
        <p:spPr>
          <a:xfrm>
            <a:off x="384048" y="3785616"/>
            <a:ext cx="3840480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12"/>
          <p:cNvSpPr/>
          <p:nvPr/>
        </p:nvSpPr>
        <p:spPr>
          <a:xfrm>
            <a:off x="566928" y="3858768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Compliance Officer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2"/>
          <p:cNvSpPr/>
          <p:nvPr/>
        </p:nvSpPr>
        <p:spPr>
          <a:xfrm>
            <a:off x="566928" y="411480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Plain-English case narrative · Draft SAR text · Audit file ready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2"/>
          <p:cNvSpPr/>
          <p:nvPr/>
        </p:nvSpPr>
        <p:spPr>
          <a:xfrm>
            <a:off x="4901184" y="3785616"/>
            <a:ext cx="3840480" cy="658368"/>
          </a:xfrm>
          <a:prstGeom prst="roundRect">
            <a:avLst>
              <a:gd name="adj" fmla="val 12500"/>
            </a:avLst>
          </a:prstGeom>
          <a:solidFill>
            <a:srgbClr val="3B240A"/>
          </a:solidFill>
          <a:ln>
            <a:noFill/>
          </a:ln>
          <a:effectLst>
            <a:outerShdw blurRad="127000" dist="38100" dir="78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2"/>
          <p:cNvSpPr/>
          <p:nvPr/>
        </p:nvSpPr>
        <p:spPr>
          <a:xfrm>
            <a:off x="4901184" y="3785616"/>
            <a:ext cx="384048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12"/>
          <p:cNvSpPr/>
          <p:nvPr/>
        </p:nvSpPr>
        <p:spPr>
          <a:xfrm>
            <a:off x="5084064" y="3858768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Regulator / Audit Team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2"/>
          <p:cNvSpPr/>
          <p:nvPr/>
        </p:nvSpPr>
        <p:spPr>
          <a:xfrm>
            <a:off x="5084064" y="411480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Explainability report · Model decision trail · FATF mapping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2"/>
          <p:cNvSpPr/>
          <p:nvPr/>
        </p:nvSpPr>
        <p:spPr>
          <a:xfrm>
            <a:off x="384048" y="4535424"/>
            <a:ext cx="83759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You are not replacing anything. You are the layer that makes what they have actually usable. This is the only pitch that gets you past a Tier 1 procurement team.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3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13"/>
          <p:cNvSpPr/>
          <p:nvPr/>
        </p:nvSpPr>
        <p:spPr>
          <a:xfrm>
            <a:off x="384048" y="146304"/>
            <a:ext cx="1609344" cy="246888"/>
          </a:xfrm>
          <a:prstGeom prst="roundRect">
            <a:avLst>
              <a:gd name="adj" fmla="val 18519"/>
            </a:avLst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3"/>
          <p:cNvSpPr/>
          <p:nvPr/>
        </p:nvSpPr>
        <p:spPr>
          <a:xfrm>
            <a:off x="384048" y="146304"/>
            <a:ext cx="1609344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COMPETITIVE EDGE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3"/>
          <p:cNvSpPr/>
          <p:nvPr/>
        </p:nvSpPr>
        <p:spPr>
          <a:xfrm>
            <a:off x="384048" y="457200"/>
            <a:ext cx="841248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Price Point &amp; Deployment Advantage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3"/>
          <p:cNvSpPr/>
          <p:nvPr/>
        </p:nvSpPr>
        <p:spPr>
          <a:xfrm>
            <a:off x="384048" y="1353312"/>
            <a:ext cx="8375904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3"/>
          <p:cNvSpPr/>
          <p:nvPr/>
        </p:nvSpPr>
        <p:spPr>
          <a:xfrm>
            <a:off x="384048" y="1426464"/>
            <a:ext cx="4160520" cy="3401568"/>
          </a:xfrm>
          <a:prstGeom prst="roundRect">
            <a:avLst>
              <a:gd name="adj" fmla="val 2419"/>
            </a:avLst>
          </a:prstGeom>
          <a:solidFill>
            <a:srgbClr val="152338"/>
          </a:solidFill>
          <a:ln>
            <a:noFill/>
          </a:ln>
          <a:effectLst>
            <a:outerShdw blurRad="127000" dist="38100" dir="78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13"/>
          <p:cNvSpPr/>
          <p:nvPr/>
        </p:nvSpPr>
        <p:spPr>
          <a:xfrm>
            <a:off x="384048" y="1426464"/>
            <a:ext cx="64008" cy="3401568"/>
          </a:xfrm>
          <a:prstGeom prst="rect">
            <a:avLst/>
          </a:prstGeom>
          <a:solidFill>
            <a:srgbClr val="1EBF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9" name="Google Shape;479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157276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13"/>
          <p:cNvSpPr/>
          <p:nvPr/>
        </p:nvSpPr>
        <p:spPr>
          <a:xfrm>
            <a:off x="1170432" y="1572768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BF7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BF7F"/>
                </a:solidFill>
                <a:latin typeface="Calibri"/>
                <a:ea typeface="Calibri"/>
                <a:cs typeface="Calibri"/>
                <a:sym typeface="Calibri"/>
              </a:rPr>
              <a:t>SwiftIQ's Price Point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3"/>
          <p:cNvSpPr/>
          <p:nvPr/>
        </p:nvSpPr>
        <p:spPr>
          <a:xfrm>
            <a:off x="566928" y="2066544"/>
            <a:ext cx="3840480" cy="36576"/>
          </a:xfrm>
          <a:prstGeom prst="rect">
            <a:avLst/>
          </a:prstGeom>
          <a:solidFill>
            <a:srgbClr val="1E32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13"/>
          <p:cNvSpPr/>
          <p:nvPr/>
        </p:nvSpPr>
        <p:spPr>
          <a:xfrm>
            <a:off x="566928" y="219456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BF7F"/>
              </a:buClr>
              <a:buSzPts val="3800"/>
              <a:buFont typeface="Trebuchet MS"/>
              <a:buNone/>
            </a:pPr>
            <a:r>
              <a:rPr lang="en-US" sz="3800" b="1" i="0" u="none" strike="noStrike" cap="none">
                <a:solidFill>
                  <a:srgbClr val="1EBF7F"/>
                </a:solidFill>
                <a:latin typeface="Trebuchet MS"/>
                <a:ea typeface="Trebuchet MS"/>
                <a:cs typeface="Trebuchet MS"/>
                <a:sym typeface="Trebuchet MS"/>
              </a:rPr>
              <a:t>$500–$3K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3"/>
          <p:cNvSpPr/>
          <p:nvPr/>
        </p:nvSpPr>
        <p:spPr>
          <a:xfrm>
            <a:off x="566928" y="281635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per month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3"/>
          <p:cNvSpPr/>
          <p:nvPr/>
        </p:nvSpPr>
        <p:spPr>
          <a:xfrm>
            <a:off x="566928" y="3127248"/>
            <a:ext cx="3840480" cy="36576"/>
          </a:xfrm>
          <a:prstGeom prst="rect">
            <a:avLst/>
          </a:prstGeom>
          <a:solidFill>
            <a:srgbClr val="1E32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13"/>
          <p:cNvSpPr/>
          <p:nvPr/>
        </p:nvSpPr>
        <p:spPr>
          <a:xfrm>
            <a:off x="566928" y="321868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vs  $500,000 – $5,000,000 / year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3"/>
          <p:cNvSpPr/>
          <p:nvPr/>
        </p:nvSpPr>
        <p:spPr>
          <a:xfrm>
            <a:off x="566928" y="3474720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A527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3A5270"/>
                </a:solidFill>
                <a:latin typeface="Calibri"/>
                <a:ea typeface="Calibri"/>
                <a:cs typeface="Calibri"/>
                <a:sym typeface="Calibri"/>
              </a:rPr>
              <a:t>for enterprise vendors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3"/>
          <p:cNvSpPr/>
          <p:nvPr/>
        </p:nvSpPr>
        <p:spPr>
          <a:xfrm>
            <a:off x="1097280" y="3767328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1EBF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13"/>
          <p:cNvSpPr/>
          <p:nvPr/>
        </p:nvSpPr>
        <p:spPr>
          <a:xfrm>
            <a:off x="1097280" y="3767328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200× cheaper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3"/>
          <p:cNvSpPr/>
          <p:nvPr/>
        </p:nvSpPr>
        <p:spPr>
          <a:xfrm>
            <a:off x="566928" y="426110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Infrastructure cost: near-zero per message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3"/>
          <p:cNvSpPr/>
          <p:nvPr/>
        </p:nvSpPr>
        <p:spPr>
          <a:xfrm>
            <a:off x="4718304" y="1426464"/>
            <a:ext cx="4041648" cy="3401568"/>
          </a:xfrm>
          <a:prstGeom prst="roundRect">
            <a:avLst>
              <a:gd name="adj" fmla="val 2419"/>
            </a:avLst>
          </a:prstGeom>
          <a:solidFill>
            <a:srgbClr val="152338"/>
          </a:solidFill>
          <a:ln>
            <a:noFill/>
          </a:ln>
          <a:effectLst>
            <a:outerShdw blurRad="127000" dist="38100" dir="78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13"/>
          <p:cNvSpPr/>
          <p:nvPr/>
        </p:nvSpPr>
        <p:spPr>
          <a:xfrm>
            <a:off x="4718304" y="1426464"/>
            <a:ext cx="64008" cy="3401568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2" name="Google Shape;492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74336" y="157276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13"/>
          <p:cNvSpPr/>
          <p:nvPr/>
        </p:nvSpPr>
        <p:spPr>
          <a:xfrm>
            <a:off x="5504688" y="1572768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2D4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0C2D4"/>
                </a:solidFill>
                <a:latin typeface="Calibri"/>
                <a:ea typeface="Calibri"/>
                <a:cs typeface="Calibri"/>
                <a:sym typeface="Calibri"/>
              </a:rPr>
              <a:t>Deployment Edge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3"/>
          <p:cNvSpPr/>
          <p:nvPr/>
        </p:nvSpPr>
        <p:spPr>
          <a:xfrm>
            <a:off x="4901184" y="2066544"/>
            <a:ext cx="3730752" cy="36576"/>
          </a:xfrm>
          <a:prstGeom prst="rect">
            <a:avLst/>
          </a:prstGeom>
          <a:solidFill>
            <a:srgbClr val="1E32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13"/>
          <p:cNvSpPr/>
          <p:nvPr/>
        </p:nvSpPr>
        <p:spPr>
          <a:xfrm>
            <a:off x="4901184" y="2212848"/>
            <a:ext cx="3730752" cy="475488"/>
          </a:xfrm>
          <a:prstGeom prst="roundRect">
            <a:avLst>
              <a:gd name="adj" fmla="val 17308"/>
            </a:avLst>
          </a:prstGeom>
          <a:solidFill>
            <a:srgbClr val="1E32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6" name="Google Shape;496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0" y="228600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13"/>
          <p:cNvSpPr/>
          <p:nvPr/>
        </p:nvSpPr>
        <p:spPr>
          <a:xfrm>
            <a:off x="5440680" y="2249424"/>
            <a:ext cx="307238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On-Premise Deployment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3"/>
          <p:cNvSpPr/>
          <p:nvPr/>
        </p:nvSpPr>
        <p:spPr>
          <a:xfrm>
            <a:off x="5440680" y="2468880"/>
            <a:ext cx="30723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Runs entirely within the institution's own infrastructure — no cloud dependency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3"/>
          <p:cNvSpPr/>
          <p:nvPr/>
        </p:nvSpPr>
        <p:spPr>
          <a:xfrm>
            <a:off x="4901184" y="2761488"/>
            <a:ext cx="3730752" cy="475488"/>
          </a:xfrm>
          <a:prstGeom prst="roundRect">
            <a:avLst>
              <a:gd name="adj" fmla="val 17308"/>
            </a:avLst>
          </a:prstGeom>
          <a:solidFill>
            <a:srgbClr val="1E32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0" name="Google Shape;500;p1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29200" y="28346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13"/>
          <p:cNvSpPr/>
          <p:nvPr/>
        </p:nvSpPr>
        <p:spPr>
          <a:xfrm>
            <a:off x="5440680" y="2798064"/>
            <a:ext cx="307238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Data Leaves the Bank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3"/>
          <p:cNvSpPr/>
          <p:nvPr/>
        </p:nvSpPr>
        <p:spPr>
          <a:xfrm>
            <a:off x="5440680" y="3017520"/>
            <a:ext cx="30723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Transaction details never cross the network boundary — GDPR &amp; MAS TRM compliant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3"/>
          <p:cNvSpPr/>
          <p:nvPr/>
        </p:nvSpPr>
        <p:spPr>
          <a:xfrm>
            <a:off x="4901184" y="3310128"/>
            <a:ext cx="3730752" cy="475488"/>
          </a:xfrm>
          <a:prstGeom prst="roundRect">
            <a:avLst>
              <a:gd name="adj" fmla="val 17308"/>
            </a:avLst>
          </a:prstGeom>
          <a:solidFill>
            <a:srgbClr val="1E32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4" name="Google Shape;504;p1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29200" y="33832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13"/>
          <p:cNvSpPr/>
          <p:nvPr/>
        </p:nvSpPr>
        <p:spPr>
          <a:xfrm>
            <a:off x="5440680" y="3346704"/>
            <a:ext cx="307238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Vendor Lock-In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3"/>
          <p:cNvSpPr/>
          <p:nvPr/>
        </p:nvSpPr>
        <p:spPr>
          <a:xfrm>
            <a:off x="5440680" y="3566160"/>
            <a:ext cx="30723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Open-stack, self-hosted — institution owns the deployment and the audit trail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3"/>
          <p:cNvSpPr/>
          <p:nvPr/>
        </p:nvSpPr>
        <p:spPr>
          <a:xfrm>
            <a:off x="4901184" y="3858768"/>
            <a:ext cx="3730752" cy="475488"/>
          </a:xfrm>
          <a:prstGeom prst="roundRect">
            <a:avLst>
              <a:gd name="adj" fmla="val 17308"/>
            </a:avLst>
          </a:prstGeom>
          <a:solidFill>
            <a:srgbClr val="1E32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8" name="Google Shape;508;p1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29200" y="393192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13"/>
          <p:cNvSpPr/>
          <p:nvPr/>
        </p:nvSpPr>
        <p:spPr>
          <a:xfrm>
            <a:off x="5440680" y="3895344"/>
            <a:ext cx="307238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On-Premise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3"/>
          <p:cNvSpPr/>
          <p:nvPr/>
        </p:nvSpPr>
        <p:spPr>
          <a:xfrm>
            <a:off x="5440680" y="4114800"/>
            <a:ext cx="30723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Llama 3.1 via Ollama on institution GPU — AI narrative without data residency risk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3"/>
          <p:cNvSpPr/>
          <p:nvPr/>
        </p:nvSpPr>
        <p:spPr>
          <a:xfrm>
            <a:off x="4901184" y="4407408"/>
            <a:ext cx="3730752" cy="475488"/>
          </a:xfrm>
          <a:prstGeom prst="roundRect">
            <a:avLst>
              <a:gd name="adj" fmla="val 17308"/>
            </a:avLst>
          </a:prstGeom>
          <a:solidFill>
            <a:srgbClr val="1E32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12" name="Google Shape;512;p1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029200" y="448056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13"/>
          <p:cNvSpPr/>
          <p:nvPr/>
        </p:nvSpPr>
        <p:spPr>
          <a:xfrm>
            <a:off x="5440680" y="4443984"/>
            <a:ext cx="307238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Immutable Audit Trail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3"/>
          <p:cNvSpPr/>
          <p:nvPr/>
        </p:nvSpPr>
        <p:spPr>
          <a:xfrm>
            <a:off x="5440680" y="4663440"/>
            <a:ext cx="30723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Insert-only Supabase policy — even an admin SQL query cannot delete an audit entry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4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14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1EBF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14"/>
          <p:cNvSpPr/>
          <p:nvPr/>
        </p:nvSpPr>
        <p:spPr>
          <a:xfrm>
            <a:off x="384048" y="146304"/>
            <a:ext cx="1280160" cy="246888"/>
          </a:xfrm>
          <a:prstGeom prst="roundRect">
            <a:avLst>
              <a:gd name="adj" fmla="val 18519"/>
            </a:avLst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14"/>
          <p:cNvSpPr/>
          <p:nvPr/>
        </p:nvSpPr>
        <p:spPr>
          <a:xfrm>
            <a:off x="384048" y="146304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4"/>
          <p:cNvSpPr/>
          <p:nvPr/>
        </p:nvSpPr>
        <p:spPr>
          <a:xfrm>
            <a:off x="384048" y="457200"/>
            <a:ext cx="841248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SwiftIQ Guard: Live Demo Walkthrough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4"/>
          <p:cNvSpPr/>
          <p:nvPr/>
        </p:nvSpPr>
        <p:spPr>
          <a:xfrm>
            <a:off x="384048" y="1353312"/>
            <a:ext cx="8375904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14"/>
          <p:cNvSpPr/>
          <p:nvPr/>
        </p:nvSpPr>
        <p:spPr>
          <a:xfrm>
            <a:off x="384048" y="1426464"/>
            <a:ext cx="8375904" cy="3401568"/>
          </a:xfrm>
          <a:prstGeom prst="roundRect">
            <a:avLst>
              <a:gd name="adj" fmla="val 2419"/>
            </a:avLst>
          </a:prstGeom>
          <a:solidFill>
            <a:srgbClr val="152338"/>
          </a:solidFill>
          <a:ln>
            <a:noFill/>
          </a:ln>
          <a:effectLst>
            <a:outerShdw blurRad="127000" dist="38100" dir="78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14"/>
          <p:cNvSpPr/>
          <p:nvPr/>
        </p:nvSpPr>
        <p:spPr>
          <a:xfrm>
            <a:off x="384048" y="1426464"/>
            <a:ext cx="64008" cy="34015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14"/>
          <p:cNvSpPr/>
          <p:nvPr/>
        </p:nvSpPr>
        <p:spPr>
          <a:xfrm>
            <a:off x="594360" y="157276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DEMO FLOW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4"/>
          <p:cNvSpPr/>
          <p:nvPr/>
        </p:nvSpPr>
        <p:spPr>
          <a:xfrm>
            <a:off x="594360" y="1984248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14"/>
          <p:cNvSpPr/>
          <p:nvPr/>
        </p:nvSpPr>
        <p:spPr>
          <a:xfrm>
            <a:off x="594360" y="198424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4"/>
          <p:cNvSpPr/>
          <p:nvPr/>
        </p:nvSpPr>
        <p:spPr>
          <a:xfrm>
            <a:off x="960120" y="1938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 SwiftIQ Guard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4"/>
          <p:cNvSpPr/>
          <p:nvPr/>
        </p:nvSpPr>
        <p:spPr>
          <a:xfrm>
            <a:off x="960120" y="2139696"/>
            <a:ext cx="30632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Show the compliance dashboard — queue overview, status indicators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4"/>
          <p:cNvSpPr/>
          <p:nvPr/>
        </p:nvSpPr>
        <p:spPr>
          <a:xfrm>
            <a:off x="594360" y="2404872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C2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14"/>
          <p:cNvSpPr/>
          <p:nvPr/>
        </p:nvSpPr>
        <p:spPr>
          <a:xfrm>
            <a:off x="594360" y="240487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4"/>
          <p:cNvSpPr/>
          <p:nvPr/>
        </p:nvSpPr>
        <p:spPr>
          <a:xfrm>
            <a:off x="960120" y="2359152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Paste a clean MT103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4"/>
          <p:cNvSpPr/>
          <p:nvPr/>
        </p:nvSpPr>
        <p:spPr>
          <a:xfrm>
            <a:off x="960120" y="2560320"/>
            <a:ext cx="30632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Screen a normal payment — show LOW risk, all-clear, no queue entry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4"/>
          <p:cNvSpPr/>
          <p:nvPr/>
        </p:nvSpPr>
        <p:spPr>
          <a:xfrm>
            <a:off x="594360" y="2825496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14"/>
          <p:cNvSpPr/>
          <p:nvPr/>
        </p:nvSpPr>
        <p:spPr>
          <a:xfrm>
            <a:off x="594360" y="2825496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4"/>
          <p:cNvSpPr/>
          <p:nvPr/>
        </p:nvSpPr>
        <p:spPr>
          <a:xfrm>
            <a:off x="960120" y="2779776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Paste structuring MT103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4"/>
          <p:cNvSpPr/>
          <p:nvPr/>
        </p:nvSpPr>
        <p:spPr>
          <a:xfrm>
            <a:off x="960120" y="2980944"/>
            <a:ext cx="30632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Amount $9,850 — STRUCTURING_ALERT fires, HIGH risk, enters queue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4"/>
          <p:cNvSpPr/>
          <p:nvPr/>
        </p:nvSpPr>
        <p:spPr>
          <a:xfrm>
            <a:off x="594360" y="324612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14"/>
          <p:cNvSpPr/>
          <p:nvPr/>
        </p:nvSpPr>
        <p:spPr>
          <a:xfrm>
            <a:off x="594360" y="324612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4"/>
          <p:cNvSpPr/>
          <p:nvPr/>
        </p:nvSpPr>
        <p:spPr>
          <a:xfrm>
            <a:off x="960120" y="3200400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Paste sanctions MT103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4"/>
          <p:cNvSpPr/>
          <p:nvPr/>
        </p:nvSpPr>
        <p:spPr>
          <a:xfrm>
            <a:off x="960120" y="3401568"/>
            <a:ext cx="30632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Party matches OFAC SDN at 87% — CRITICAL, SANCTIONS_HIT, stops processing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4"/>
          <p:cNvSpPr/>
          <p:nvPr/>
        </p:nvSpPr>
        <p:spPr>
          <a:xfrm>
            <a:off x="594360" y="3666744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14"/>
          <p:cNvSpPr/>
          <p:nvPr/>
        </p:nvSpPr>
        <p:spPr>
          <a:xfrm>
            <a:off x="594360" y="3666744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4"/>
          <p:cNvSpPr/>
          <p:nvPr/>
        </p:nvSpPr>
        <p:spPr>
          <a:xfrm>
            <a:off x="960120" y="3621024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Show AI narrative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4"/>
          <p:cNvSpPr/>
          <p:nvPr/>
        </p:nvSpPr>
        <p:spPr>
          <a:xfrm>
            <a:off x="960120" y="3822192"/>
            <a:ext cx="30632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Read out Llama 3.1 audit narrative — compliance-grade plain English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4"/>
          <p:cNvSpPr/>
          <p:nvPr/>
        </p:nvSpPr>
        <p:spPr>
          <a:xfrm>
            <a:off x="594360" y="4087368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BF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14"/>
          <p:cNvSpPr/>
          <p:nvPr/>
        </p:nvSpPr>
        <p:spPr>
          <a:xfrm>
            <a:off x="594360" y="408736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4"/>
          <p:cNvSpPr/>
          <p:nvPr/>
        </p:nvSpPr>
        <p:spPr>
          <a:xfrm>
            <a:off x="960120" y="404164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Officer clears a case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4"/>
          <p:cNvSpPr/>
          <p:nvPr/>
        </p:nvSpPr>
        <p:spPr>
          <a:xfrm>
            <a:off x="960120" y="4242816"/>
            <a:ext cx="30632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Click Clear → action written to immutable audit log — show log entry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4"/>
          <p:cNvSpPr/>
          <p:nvPr/>
        </p:nvSpPr>
        <p:spPr>
          <a:xfrm>
            <a:off x="594360" y="4507992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6366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14"/>
          <p:cNvSpPr/>
          <p:nvPr/>
        </p:nvSpPr>
        <p:spPr>
          <a:xfrm>
            <a:off x="594360" y="450799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4"/>
          <p:cNvSpPr/>
          <p:nvPr/>
        </p:nvSpPr>
        <p:spPr>
          <a:xfrm>
            <a:off x="960120" y="4462272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Export audit log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4"/>
          <p:cNvSpPr/>
          <p:nvPr/>
        </p:nvSpPr>
        <p:spPr>
          <a:xfrm>
            <a:off x="960120" y="4663440"/>
            <a:ext cx="306324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Show Admin exporting full audit trail for regulatory reporting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4"/>
          <p:cNvSpPr/>
          <p:nvPr/>
        </p:nvSpPr>
        <p:spPr>
          <a:xfrm>
            <a:off x="4434840" y="1554480"/>
            <a:ext cx="36576" cy="3127248"/>
          </a:xfrm>
          <a:prstGeom prst="rect">
            <a:avLst/>
          </a:prstGeom>
          <a:solidFill>
            <a:srgbClr val="1E32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14"/>
          <p:cNvSpPr/>
          <p:nvPr/>
        </p:nvSpPr>
        <p:spPr>
          <a:xfrm>
            <a:off x="4617720" y="157276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RISK LEVEL QUICK REF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4"/>
          <p:cNvSpPr/>
          <p:nvPr/>
        </p:nvSpPr>
        <p:spPr>
          <a:xfrm>
            <a:off x="4617720" y="1938528"/>
            <a:ext cx="3840480" cy="640080"/>
          </a:xfrm>
          <a:prstGeom prst="roundRect">
            <a:avLst>
              <a:gd name="adj" fmla="val 12857"/>
            </a:avLst>
          </a:prstGeom>
          <a:solidFill>
            <a:srgbClr val="1E32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14"/>
          <p:cNvSpPr/>
          <p:nvPr/>
        </p:nvSpPr>
        <p:spPr>
          <a:xfrm>
            <a:off x="4754880" y="212140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14"/>
          <p:cNvSpPr/>
          <p:nvPr/>
        </p:nvSpPr>
        <p:spPr>
          <a:xfrm>
            <a:off x="4754880" y="2121408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CRITICAL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4"/>
          <p:cNvSpPr/>
          <p:nvPr/>
        </p:nvSpPr>
        <p:spPr>
          <a:xfrm>
            <a:off x="5852160" y="1993392"/>
            <a:ext cx="24688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Sanctions hit (≥80%) · Sanctioned country · TBML dual-use · FATF blacklist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4"/>
          <p:cNvSpPr/>
          <p:nvPr/>
        </p:nvSpPr>
        <p:spPr>
          <a:xfrm>
            <a:off x="4617720" y="2651760"/>
            <a:ext cx="3840480" cy="640080"/>
          </a:xfrm>
          <a:prstGeom prst="roundRect">
            <a:avLst>
              <a:gd name="adj" fmla="val 12857"/>
            </a:avLst>
          </a:prstGeom>
          <a:solidFill>
            <a:srgbClr val="1E32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14"/>
          <p:cNvSpPr/>
          <p:nvPr/>
        </p:nvSpPr>
        <p:spPr>
          <a:xfrm>
            <a:off x="4754880" y="283464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14"/>
          <p:cNvSpPr/>
          <p:nvPr/>
        </p:nvSpPr>
        <p:spPr>
          <a:xfrm>
            <a:off x="4754880" y="283464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4"/>
          <p:cNvSpPr/>
          <p:nvPr/>
        </p:nvSpPr>
        <p:spPr>
          <a:xfrm>
            <a:off x="5852160" y="2706624"/>
            <a:ext cx="24688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Structuring $9,500–$9,999 · FATF grey list · XGBoost &gt;70% · Anomaly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4"/>
          <p:cNvSpPr/>
          <p:nvPr/>
        </p:nvSpPr>
        <p:spPr>
          <a:xfrm>
            <a:off x="4617720" y="3364992"/>
            <a:ext cx="3840480" cy="640080"/>
          </a:xfrm>
          <a:prstGeom prst="roundRect">
            <a:avLst>
              <a:gd name="adj" fmla="val 12857"/>
            </a:avLst>
          </a:prstGeom>
          <a:solidFill>
            <a:srgbClr val="1E32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4"/>
          <p:cNvSpPr/>
          <p:nvPr/>
        </p:nvSpPr>
        <p:spPr>
          <a:xfrm>
            <a:off x="4754880" y="3547872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14"/>
          <p:cNvSpPr/>
          <p:nvPr/>
        </p:nvSpPr>
        <p:spPr>
          <a:xfrm>
            <a:off x="4754880" y="3547872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4"/>
          <p:cNvSpPr/>
          <p:nvPr/>
        </p:nvSpPr>
        <p:spPr>
          <a:xfrm>
            <a:off x="5852160" y="3419856"/>
            <a:ext cx="24688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Moderate corridor · XGBoost 40–70% · Round amount + medium risk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4"/>
          <p:cNvSpPr/>
          <p:nvPr/>
        </p:nvSpPr>
        <p:spPr>
          <a:xfrm>
            <a:off x="4617720" y="4078224"/>
            <a:ext cx="3840480" cy="640080"/>
          </a:xfrm>
          <a:prstGeom prst="roundRect">
            <a:avLst>
              <a:gd name="adj" fmla="val 12857"/>
            </a:avLst>
          </a:prstGeom>
          <a:solidFill>
            <a:srgbClr val="1E32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14"/>
          <p:cNvSpPr/>
          <p:nvPr/>
        </p:nvSpPr>
        <p:spPr>
          <a:xfrm>
            <a:off x="4754880" y="4261104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1EBF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14"/>
          <p:cNvSpPr/>
          <p:nvPr/>
        </p:nvSpPr>
        <p:spPr>
          <a:xfrm>
            <a:off x="4754880" y="4261104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4"/>
          <p:cNvSpPr/>
          <p:nvPr/>
        </p:nvSpPr>
        <p:spPr>
          <a:xfrm>
            <a:off x="5852160" y="4133088"/>
            <a:ext cx="24688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No flags from any tier · Corridor clean · Probability &lt;40%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4"/>
          <p:cNvSpPr/>
          <p:nvPr/>
        </p:nvSpPr>
        <p:spPr>
          <a:xfrm>
            <a:off x="4617720" y="4645152"/>
            <a:ext cx="3840480" cy="137160"/>
          </a:xfrm>
          <a:prstGeom prst="roundRect">
            <a:avLst>
              <a:gd name="adj" fmla="val 60000"/>
            </a:avLst>
          </a:prstGeom>
          <a:solidFill>
            <a:srgbClr val="3B24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14"/>
          <p:cNvSpPr/>
          <p:nvPr/>
        </p:nvSpPr>
        <p:spPr>
          <a:xfrm>
            <a:off x="4617720" y="4663440"/>
            <a:ext cx="384048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End-to-end &lt; 3 seconds · Sub-3s SLA · Zero data leaves the network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4"/>
          <p:cNvSpPr/>
          <p:nvPr/>
        </p:nvSpPr>
        <p:spPr>
          <a:xfrm>
            <a:off x="2505456" y="4956791"/>
            <a:ext cx="393192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800"/>
              <a:buFont typeface="Calibri"/>
              <a:buNone/>
            </a:pPr>
            <a:r>
              <a:rPr lang="en-US" sz="800" b="0" i="0" u="none" strike="noStrike" cap="none" dirty="0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🖥  Demo: localhost:5173 / port 3000  ·  Test messages pre-loaded  ·  </a:t>
            </a:r>
            <a:r>
              <a:rPr lang="en-US" sz="800" b="0" i="0" u="none" strike="noStrike" cap="none" dirty="0" err="1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Supabase</a:t>
            </a:r>
            <a:r>
              <a:rPr lang="en-US" sz="800" b="0" i="0" u="none" strike="noStrike" cap="none" dirty="0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 audit mock active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8"/>
        </a:solidFill>
        <a:effectLst/>
      </p:bgPr>
    </p:bg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15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15"/>
          <p:cNvSpPr/>
          <p:nvPr/>
        </p:nvSpPr>
        <p:spPr>
          <a:xfrm>
            <a:off x="346320" y="171450"/>
            <a:ext cx="8375904" cy="4572000"/>
          </a:xfrm>
          <a:prstGeom prst="roundRect">
            <a:avLst>
              <a:gd name="adj" fmla="val 2045"/>
            </a:avLst>
          </a:prstGeom>
          <a:solidFill>
            <a:srgbClr val="152338"/>
          </a:solidFill>
          <a:ln>
            <a:noFill/>
          </a:ln>
          <a:effectLst>
            <a:outerShdw blurRad="127000" dist="38100" dir="78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15"/>
          <p:cNvSpPr/>
          <p:nvPr/>
        </p:nvSpPr>
        <p:spPr>
          <a:xfrm>
            <a:off x="134856" y="228600"/>
            <a:ext cx="64008" cy="4572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98" name="Google Shape;598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8717" y="411480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15"/>
          <p:cNvSpPr/>
          <p:nvPr/>
        </p:nvSpPr>
        <p:spPr>
          <a:xfrm>
            <a:off x="1077357" y="438912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700"/>
              <a:buFont typeface="Trebuchet MS"/>
              <a:buNone/>
            </a:pPr>
            <a:r>
              <a:rPr lang="en-US" sz="1700" b="1" i="0" u="none" strike="noStrike" cap="none" dirty="0" err="1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SwiftIQ</a:t>
            </a:r>
            <a:r>
              <a:rPr lang="en-US" sz="1700" b="1" i="0" u="none" strike="noStrike" cap="none" dirty="0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 Guard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5"/>
          <p:cNvSpPr/>
          <p:nvPr/>
        </p:nvSpPr>
        <p:spPr>
          <a:xfrm>
            <a:off x="528717" y="1046987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900"/>
              <a:buFont typeface="Calibri"/>
              <a:buNone/>
            </a:pPr>
            <a:r>
              <a:rPr lang="en-US" sz="900" b="1" i="0" u="none" strike="noStrike" cap="none" dirty="0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5"/>
          <p:cNvSpPr/>
          <p:nvPr/>
        </p:nvSpPr>
        <p:spPr>
          <a:xfrm>
            <a:off x="615101" y="1186434"/>
            <a:ext cx="358444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lang="en-US" sz="900" b="1" i="0" u="none" strike="noStrike" cap="none" dirty="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900" b="0" i="0" u="none" strike="noStrike" cap="none" dirty="0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200× cheaper than enterprise vendors at $500–$3K/month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5"/>
          <p:cNvSpPr/>
          <p:nvPr/>
        </p:nvSpPr>
        <p:spPr>
          <a:xfrm>
            <a:off x="615101" y="1769364"/>
            <a:ext cx="358444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lang="en-US" sz="900" b="1" i="0" u="none" strike="noStrike" cap="none" dirty="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900" b="0" i="0" u="none" strike="noStrike" cap="none" dirty="0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4-tier engine: Rules → ML → Sanctions → AI Narrative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5"/>
          <p:cNvSpPr/>
          <p:nvPr/>
        </p:nvSpPr>
        <p:spPr>
          <a:xfrm>
            <a:off x="615101" y="2300858"/>
            <a:ext cx="358444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lang="en-US" sz="900" b="1" i="0" u="none" strike="noStrike" cap="none" dirty="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900" b="0" i="0" u="none" strike="noStrike" cap="none" dirty="0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Tier 1 augmentation layer — no replacement required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5"/>
          <p:cNvSpPr/>
          <p:nvPr/>
        </p:nvSpPr>
        <p:spPr>
          <a:xfrm>
            <a:off x="615101" y="2898649"/>
            <a:ext cx="358444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lang="en-US" sz="900" b="1" i="0" u="none" strike="noStrike" cap="none" dirty="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900" b="0" i="0" u="none" strike="noStrike" cap="none" dirty="0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Primary target: mid-tier &amp; regional banks (law requires AML)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5"/>
          <p:cNvSpPr/>
          <p:nvPr/>
        </p:nvSpPr>
        <p:spPr>
          <a:xfrm>
            <a:off x="615101" y="3415285"/>
            <a:ext cx="358444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lang="en-US" sz="900" b="1" i="0" u="none" strike="noStrike" cap="none" dirty="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900" b="0" i="0" u="none" strike="noStrike" cap="none" dirty="0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On-premise Llama 3.1 — zero data residency risk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5"/>
          <p:cNvSpPr/>
          <p:nvPr/>
        </p:nvSpPr>
        <p:spPr>
          <a:xfrm>
            <a:off x="615101" y="3957066"/>
            <a:ext cx="358444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lang="en-US" sz="900" b="1" i="0" u="none" strike="noStrike" cap="none" dirty="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900" b="0" i="0" u="none" strike="noStrike" cap="none" dirty="0">
                <a:solidFill>
                  <a:srgbClr val="E8F0F8"/>
                </a:solidFill>
                <a:latin typeface="Calibri"/>
                <a:ea typeface="Calibri"/>
                <a:cs typeface="Calibri"/>
                <a:sym typeface="Calibri"/>
              </a:rPr>
              <a:t>Safe-Path: highest severity wins — asymmetric cost logic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5"/>
          <p:cNvSpPr/>
          <p:nvPr/>
        </p:nvSpPr>
        <p:spPr>
          <a:xfrm>
            <a:off x="384048" y="4882896"/>
            <a:ext cx="8375904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8FAD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6E8FAD"/>
                </a:solidFill>
                <a:latin typeface="Calibri"/>
                <a:ea typeface="Calibri"/>
                <a:cs typeface="Calibri"/>
                <a:sym typeface="Calibri"/>
              </a:rPr>
              <a:t>Thank you  ·  Questions &amp; Discussion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1235</Words>
  <Application>Microsoft Office PowerPoint</Application>
  <PresentationFormat>On-screen Show (16:9)</PresentationFormat>
  <Paragraphs>179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EB Garamond Medium</vt:lpstr>
      <vt:lpstr>Trebuchet MS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Sanjana Palkar</cp:lastModifiedBy>
  <cp:revision>1</cp:revision>
  <dcterms:created xsi:type="dcterms:W3CDTF">2026-03-25T06:33:42Z</dcterms:created>
  <dcterms:modified xsi:type="dcterms:W3CDTF">2026-03-26T05:55:26Z</dcterms:modified>
</cp:coreProperties>
</file>